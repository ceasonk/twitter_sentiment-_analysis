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4" r:id="rId13"/>
    <p:sldId id="275" r:id="rId14"/>
    <p:sldId id="276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 type="screen4x3"/>
  <p:notesSz cx="6858000" cy="9144000"/>
  <p:embeddedFontLst>
    <p:embeddedFont>
      <p:font typeface="等线" panose="02010600030101010101" charset="-122"/>
      <p:regular r:id="rId27"/>
    </p:embeddedFont>
    <p:embeddedFont>
      <p:font typeface="Source Han Sans" panose="020B0400000000000000" charset="-122"/>
      <p:regular r:id="rId28"/>
    </p:embeddedFont>
    <p:embeddedFont>
      <p:font typeface="HelloFont WenYiHei" panose="00020600040101010101" charset="-122"/>
      <p:regular r:id="rId29"/>
    </p:embeddedFont>
    <p:embeddedFont>
      <p:font typeface="OPPOSans B" panose="00020600040101010101" charset="-122"/>
      <p:regular r:id="rId30"/>
    </p:embeddedFont>
    <p:embeddedFont>
      <p:font typeface="Source Han Sans CN Bold" panose="020B0800000000000000" charset="-122"/>
      <p:bold r:id="rId31"/>
    </p:embeddedFont>
    <p:embeddedFont>
      <p:font typeface="Calibri" panose="020F0502020204030204" charset="0"/>
      <p:regular r:id="rId32"/>
      <p:bold r:id="rId33"/>
      <p:italic r:id="rId34"/>
      <p:boldItalic r:id="rId3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font" Target="fonts/font9.fntdata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blipFill>
            <a:blip r:embed="rId1"/>
            <a:srcRect/>
            <a:stretch>
              <a:fillRect l="-164" r="-164"/>
            </a:stretch>
          </a:blip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bg1">
              <a:alpha val="92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4400">
                <a:ea typeface="宋体" panose="02010600030101010101" pitchFamily="2" charset="-122"/>
              </a:rPr>
              <a:t>Memory Is All You Need</a:t>
            </a:r>
            <a:endParaRPr kumimoji="1" lang="en-US" altLang="zh-CN" sz="4400">
              <a:ea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 rot="3172644">
            <a:off x="1879916" y="1518209"/>
            <a:ext cx="672025" cy="672025"/>
          </a:xfrm>
          <a:prstGeom prst="ellipse">
            <a:avLst/>
          </a:prstGeom>
          <a:gradFill>
            <a:gsLst>
              <a:gs pos="9000">
                <a:schemeClr val="accent4">
                  <a:lumMod val="40000"/>
                  <a:lumOff val="60000"/>
                  <a:alpha val="80000"/>
                </a:schemeClr>
              </a:gs>
              <a:gs pos="100000">
                <a:schemeClr val="bg1">
                  <a:alpha val="7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1" y="4800602"/>
            <a:ext cx="5844209" cy="2064024"/>
          </a:xfrm>
          <a:custGeom>
            <a:avLst/>
            <a:gdLst>
              <a:gd name="connsiteX0" fmla="*/ 0 w 3095538"/>
              <a:gd name="connsiteY0" fmla="*/ 181103 h 1093264"/>
              <a:gd name="connsiteX1" fmla="*/ 1761689 w 3095538"/>
              <a:gd name="connsiteY1" fmla="*/ 546023 h 1093264"/>
              <a:gd name="connsiteX2" fmla="*/ 3095538 w 3095538"/>
              <a:gd name="connsiteY2" fmla="*/ 1093264 h 1093264"/>
              <a:gd name="connsiteX3" fmla="*/ 0 w 3095538"/>
              <a:gd name="connsiteY3" fmla="*/ 1093264 h 1093264"/>
              <a:gd name="connsiteX4" fmla="*/ 0 w 3095538"/>
              <a:gd name="connsiteY4" fmla="*/ 181103 h 1093264"/>
              <a:gd name="connsiteX5" fmla="*/ 0 w 3095538"/>
              <a:gd name="connsiteY5" fmla="*/ 184030 h 1096191"/>
            </a:gdLst>
            <a:ahLst/>
            <a:cxnLst/>
            <a:rect l="l" t="t" r="r" b="b"/>
            <a:pathLst>
              <a:path w="3095538" h="1093264">
                <a:moveTo>
                  <a:pt x="0" y="181103"/>
                </a:moveTo>
                <a:cubicBezTo>
                  <a:pt x="664128" y="-313847"/>
                  <a:pt x="1395369" y="340493"/>
                  <a:pt x="1761689" y="546023"/>
                </a:cubicBezTo>
                <a:cubicBezTo>
                  <a:pt x="2270621" y="847281"/>
                  <a:pt x="2599190" y="1043676"/>
                  <a:pt x="3095538" y="1093264"/>
                </a:cubicBezTo>
                <a:lnTo>
                  <a:pt x="0" y="1093264"/>
                </a:lnTo>
                <a:lnTo>
                  <a:pt x="0" y="18110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83000"/>
                </a:schemeClr>
              </a:gs>
              <a:gs pos="92000">
                <a:schemeClr val="accent2">
                  <a:alpha val="7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3760697"/>
            <a:ext cx="1826546" cy="3103929"/>
          </a:xfrm>
          <a:custGeom>
            <a:avLst/>
            <a:gdLst>
              <a:gd name="connsiteX0" fmla="*/ 0 w 1098373"/>
              <a:gd name="connsiteY0" fmla="*/ 411206 h 1732006"/>
              <a:gd name="connsiteX1" fmla="*/ 996333 w 1098373"/>
              <a:gd name="connsiteY1" fmla="*/ 79840 h 1732006"/>
              <a:gd name="connsiteX2" fmla="*/ 903120 w 1098373"/>
              <a:gd name="connsiteY2" fmla="*/ 740149 h 1732006"/>
              <a:gd name="connsiteX3" fmla="*/ 975360 w 1098373"/>
              <a:gd name="connsiteY3" fmla="*/ 1732006 h 1732006"/>
              <a:gd name="connsiteX4" fmla="*/ 0 w 1098373"/>
              <a:gd name="connsiteY4" fmla="*/ 1732006 h 1732006"/>
              <a:gd name="connsiteX5" fmla="*/ 0 w 1098373"/>
              <a:gd name="connsiteY5" fmla="*/ 411206 h 1732006"/>
            </a:gdLst>
            <a:ahLst/>
            <a:cxnLst/>
            <a:rect l="l" t="t" r="r" b="b"/>
            <a:pathLst>
              <a:path w="1098373" h="1732006">
                <a:moveTo>
                  <a:pt x="0" y="411206"/>
                </a:moveTo>
                <a:cubicBezTo>
                  <a:pt x="374056" y="-51587"/>
                  <a:pt x="832002" y="-61375"/>
                  <a:pt x="996333" y="79840"/>
                </a:cubicBezTo>
                <a:cubicBezTo>
                  <a:pt x="1185303" y="262595"/>
                  <a:pt x="1086978" y="569651"/>
                  <a:pt x="903120" y="740149"/>
                </a:cubicBezTo>
                <a:cubicBezTo>
                  <a:pt x="446620" y="1149733"/>
                  <a:pt x="426099" y="1564600"/>
                  <a:pt x="975360" y="1732006"/>
                </a:cubicBezTo>
                <a:lnTo>
                  <a:pt x="0" y="1732006"/>
                </a:lnTo>
                <a:lnTo>
                  <a:pt x="0" y="41120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9000"/>
                </a:schemeClr>
              </a:gs>
              <a:gs pos="100000">
                <a:schemeClr val="accent2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408950" y="-6626"/>
            <a:ext cx="4783050" cy="1477215"/>
          </a:xfrm>
          <a:custGeom>
            <a:avLst/>
            <a:gdLst>
              <a:gd name="connsiteX0" fmla="*/ 462410 w 2811328"/>
              <a:gd name="connsiteY0" fmla="*/ 0 h 868261"/>
              <a:gd name="connsiteX1" fmla="*/ 2811328 w 2811328"/>
              <a:gd name="connsiteY1" fmla="*/ 0 h 868261"/>
              <a:gd name="connsiteX2" fmla="*/ 2811328 w 2811328"/>
              <a:gd name="connsiteY2" fmla="*/ 868261 h 868261"/>
              <a:gd name="connsiteX3" fmla="*/ 982529 w 2811328"/>
              <a:gd name="connsiteY3" fmla="*/ 683703 h 868261"/>
              <a:gd name="connsiteX4" fmla="*/ 5210 w 2811328"/>
              <a:gd name="connsiteY4" fmla="*/ 654342 h 868261"/>
              <a:gd name="connsiteX5" fmla="*/ 462410 w 2811328"/>
              <a:gd name="connsiteY5" fmla="*/ 0 h 868261"/>
            </a:gdLst>
            <a:ahLst/>
            <a:cxnLst/>
            <a:rect l="l" t="t" r="r" b="b"/>
            <a:pathLst>
              <a:path w="2811328" h="868261">
                <a:moveTo>
                  <a:pt x="462410" y="0"/>
                </a:moveTo>
                <a:lnTo>
                  <a:pt x="2811328" y="0"/>
                </a:lnTo>
                <a:lnTo>
                  <a:pt x="2811328" y="868261"/>
                </a:lnTo>
                <a:cubicBezTo>
                  <a:pt x="2345739" y="308995"/>
                  <a:pt x="1153804" y="650846"/>
                  <a:pt x="982529" y="683703"/>
                </a:cubicBezTo>
                <a:cubicBezTo>
                  <a:pt x="404388" y="854978"/>
                  <a:pt x="58280" y="883459"/>
                  <a:pt x="5210" y="654342"/>
                </a:cubicBezTo>
                <a:cubicBezTo>
                  <a:pt x="-46523" y="236290"/>
                  <a:pt x="300222" y="78298"/>
                  <a:pt x="4624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alpha val="8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0193345" y="-6625"/>
            <a:ext cx="1998655" cy="3533484"/>
          </a:xfrm>
          <a:custGeom>
            <a:avLst/>
            <a:gdLst>
              <a:gd name="connsiteX0" fmla="*/ 155567 w 1095134"/>
              <a:gd name="connsiteY0" fmla="*/ 0 h 1738370"/>
              <a:gd name="connsiteX1" fmla="*/ 1095134 w 1095134"/>
              <a:gd name="connsiteY1" fmla="*/ 0 h 1738370"/>
              <a:gd name="connsiteX2" fmla="*/ 1095134 w 1095134"/>
              <a:gd name="connsiteY2" fmla="*/ 1342239 h 1738370"/>
              <a:gd name="connsiteX3" fmla="*/ 109427 w 1095134"/>
              <a:gd name="connsiteY3" fmla="*/ 1665214 h 1738370"/>
              <a:gd name="connsiteX4" fmla="*/ 541465 w 1095134"/>
              <a:gd name="connsiteY4" fmla="*/ 503339 h 1738370"/>
              <a:gd name="connsiteX5" fmla="*/ 155567 w 1095134"/>
              <a:gd name="connsiteY5" fmla="*/ 0 h 1738370"/>
            </a:gdLst>
            <a:ahLst/>
            <a:cxnLst/>
            <a:rect l="l" t="t" r="r" b="b"/>
            <a:pathLst>
              <a:path w="1095134" h="1738369">
                <a:moveTo>
                  <a:pt x="155567" y="0"/>
                </a:moveTo>
                <a:lnTo>
                  <a:pt x="1095134" y="0"/>
                </a:lnTo>
                <a:lnTo>
                  <a:pt x="1095134" y="1342239"/>
                </a:lnTo>
                <a:cubicBezTo>
                  <a:pt x="556841" y="1856764"/>
                  <a:pt x="203105" y="1754697"/>
                  <a:pt x="109427" y="1665214"/>
                </a:cubicBezTo>
                <a:cubicBezTo>
                  <a:pt x="-278562" y="1249260"/>
                  <a:pt x="485538" y="824916"/>
                  <a:pt x="541465" y="503339"/>
                </a:cubicBezTo>
                <a:cubicBezTo>
                  <a:pt x="572225" y="257262"/>
                  <a:pt x="363196" y="109756"/>
                  <a:pt x="155567" y="0"/>
                </a:cubicBezTo>
                <a:close/>
              </a:path>
            </a:pathLst>
          </a:custGeom>
          <a:gradFill>
            <a:gsLst>
              <a:gs pos="13000">
                <a:schemeClr val="accent1">
                  <a:alpha val="70000"/>
                </a:schemeClr>
              </a:gs>
              <a:gs pos="56000">
                <a:schemeClr val="accent1">
                  <a:alpha val="4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1120086" y="1610229"/>
            <a:ext cx="1071914" cy="4410721"/>
          </a:xfrm>
          <a:custGeom>
            <a:avLst/>
            <a:gdLst>
              <a:gd name="connsiteX0" fmla="*/ 2562 w 470947"/>
              <a:gd name="connsiteY0" fmla="*/ 541090 h 1937857"/>
              <a:gd name="connsiteX1" fmla="*/ 470947 w 470947"/>
              <a:gd name="connsiteY1" fmla="*/ 0 h 1937857"/>
              <a:gd name="connsiteX2" fmla="*/ 470947 w 470947"/>
              <a:gd name="connsiteY2" fmla="*/ 1937857 h 1937857"/>
              <a:gd name="connsiteX3" fmla="*/ 2562 w 470947"/>
              <a:gd name="connsiteY3" fmla="*/ 541090 h 1937857"/>
              <a:gd name="connsiteX4" fmla="*/ 2562 w 470947"/>
              <a:gd name="connsiteY4" fmla="*/ 541090 h 1937857"/>
            </a:gdLst>
            <a:ahLst/>
            <a:cxnLst/>
            <a:rect l="l" t="t" r="r" b="b"/>
            <a:pathLst>
              <a:path w="470947" h="1937857">
                <a:moveTo>
                  <a:pt x="2562" y="541090"/>
                </a:moveTo>
                <a:cubicBezTo>
                  <a:pt x="-34257" y="142614"/>
                  <a:pt x="335792" y="33555"/>
                  <a:pt x="470947" y="0"/>
                </a:cubicBezTo>
                <a:lnTo>
                  <a:pt x="470947" y="1937857"/>
                </a:lnTo>
                <a:cubicBezTo>
                  <a:pt x="453237" y="1279321"/>
                  <a:pt x="74800" y="985706"/>
                  <a:pt x="2562" y="54109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85000">
                <a:schemeClr val="accent2"/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51176" y="3262121"/>
            <a:ext cx="971224" cy="971224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1000">
                <a:schemeClr val="accent1">
                  <a:alpha val="22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285431" y="201326"/>
            <a:ext cx="596569" cy="596569"/>
          </a:xfrm>
          <a:prstGeom prst="ellipse">
            <a:avLst/>
          </a:prstGeom>
          <a:gradFill>
            <a:gsLst>
              <a:gs pos="0">
                <a:schemeClr val="accent2"/>
              </a:gs>
              <a:gs pos="81000">
                <a:schemeClr val="accent1">
                  <a:alpha val="47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172120" y="5862182"/>
            <a:ext cx="386558" cy="386558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  <a:alpha val="13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1369984" y="4043547"/>
            <a:ext cx="596569" cy="59656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  <a:alpha val="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0029423" y="1084105"/>
            <a:ext cx="307272" cy="307272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  <a:alpha val="1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3641506" y="4769414"/>
            <a:ext cx="2143968" cy="36919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72000">
                <a:schemeClr val="accent1">
                  <a:lumMod val="20000"/>
                  <a:lumOff val="80000"/>
                  <a:alpha val="54000"/>
                </a:schemeClr>
              </a:gs>
            </a:gsLst>
            <a:lin ang="189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3608772" y="4744268"/>
            <a:ext cx="419492" cy="419490"/>
          </a:xfrm>
          <a:prstGeom prst="roundRect">
            <a:avLst>
              <a:gd name="adj" fmla="val 11123"/>
            </a:avLst>
          </a:prstGeom>
          <a:gradFill>
            <a:gsLst>
              <a:gs pos="0">
                <a:schemeClr val="accent1"/>
              </a:gs>
              <a:gs pos="76000">
                <a:schemeClr val="accent2"/>
              </a:gs>
            </a:gsLst>
            <a:lin ang="2700000" scaled="0"/>
          </a:gradFill>
          <a:ln w="12700" cap="sq">
            <a:noFill/>
            <a:miter/>
          </a:ln>
          <a:effectLst>
            <a:outerShdw blurRad="228600" dist="12700" dir="5400000" algn="t" rotWithShape="0">
              <a:schemeClr val="accent1">
                <a:lumMod val="7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709780" y="4836227"/>
            <a:ext cx="217475" cy="235572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439261" y="4769414"/>
            <a:ext cx="2143968" cy="369198"/>
          </a:xfrm>
          <a:prstGeom prst="roundRect">
            <a:avLst/>
          </a:prstGeom>
          <a:gradFill>
            <a:gsLst>
              <a:gs pos="0">
                <a:schemeClr val="accent4">
                  <a:lumMod val="60000"/>
                  <a:lumOff val="40000"/>
                  <a:alpha val="40000"/>
                </a:schemeClr>
              </a:gs>
              <a:gs pos="72000">
                <a:schemeClr val="accent4">
                  <a:lumMod val="20000"/>
                  <a:lumOff val="80000"/>
                  <a:alpha val="54000"/>
                </a:schemeClr>
              </a:gs>
            </a:gsLst>
            <a:lin ang="18900000" scaled="0"/>
          </a:gradFill>
          <a:ln w="12700" cap="sq">
            <a:solidFill>
              <a:schemeClr val="accent4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406526" y="4744268"/>
            <a:ext cx="419492" cy="419490"/>
          </a:xfrm>
          <a:prstGeom prst="roundRect">
            <a:avLst>
              <a:gd name="adj" fmla="val 11123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76000">
                <a:schemeClr val="accent4"/>
              </a:gs>
            </a:gsLst>
            <a:lin ang="2700000" scaled="0"/>
          </a:gradFill>
          <a:ln w="12700" cap="sq">
            <a:noFill/>
            <a:miter/>
          </a:ln>
          <a:effectLst>
            <a:outerShdw blurRad="228600" dist="12700" dir="5400000" algn="t" rotWithShape="0">
              <a:schemeClr val="accent4">
                <a:lumMod val="7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6507534" y="4836226"/>
            <a:ext cx="217475" cy="235574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4963289" y="1470589"/>
            <a:ext cx="2254017" cy="794277"/>
          </a:xfrm>
          <a:custGeom>
            <a:avLst/>
            <a:gdLst>
              <a:gd name="connsiteX0" fmla="*/ 93143 w 2140962"/>
              <a:gd name="connsiteY0" fmla="*/ 0 h 958499"/>
              <a:gd name="connsiteX1" fmla="*/ 2047819 w 2140962"/>
              <a:gd name="connsiteY1" fmla="*/ 0 h 958499"/>
              <a:gd name="connsiteX2" fmla="*/ 2140962 w 2140962"/>
              <a:gd name="connsiteY2" fmla="*/ 93143 h 958499"/>
              <a:gd name="connsiteX3" fmla="*/ 2140962 w 2140962"/>
              <a:gd name="connsiteY3" fmla="*/ 722687 h 958499"/>
              <a:gd name="connsiteX4" fmla="*/ 2047819 w 2140962"/>
              <a:gd name="connsiteY4" fmla="*/ 815830 h 958499"/>
              <a:gd name="connsiteX5" fmla="*/ 1972279 w 2140962"/>
              <a:gd name="connsiteY5" fmla="*/ 815830 h 958499"/>
              <a:gd name="connsiteX6" fmla="*/ 1822852 w 2140962"/>
              <a:gd name="connsiteY6" fmla="*/ 958499 h 958499"/>
              <a:gd name="connsiteX7" fmla="*/ 1822852 w 2140962"/>
              <a:gd name="connsiteY7" fmla="*/ 815830 h 958499"/>
              <a:gd name="connsiteX8" fmla="*/ 93143 w 2140962"/>
              <a:gd name="connsiteY8" fmla="*/ 815830 h 958499"/>
              <a:gd name="connsiteX9" fmla="*/ 0 w 2140962"/>
              <a:gd name="connsiteY9" fmla="*/ 722687 h 958499"/>
              <a:gd name="connsiteX10" fmla="*/ 0 w 2140962"/>
              <a:gd name="connsiteY10" fmla="*/ 93143 h 958499"/>
              <a:gd name="connsiteX11" fmla="*/ 93143 w 2140962"/>
              <a:gd name="connsiteY11" fmla="*/ 0 h 958499"/>
            </a:gdLst>
            <a:ahLst/>
            <a:cxnLst/>
            <a:rect l="l" t="t" r="r" b="b"/>
            <a:pathLst>
              <a:path w="2140962" h="958499">
                <a:moveTo>
                  <a:pt x="93143" y="0"/>
                </a:moveTo>
                <a:lnTo>
                  <a:pt x="2047819" y="0"/>
                </a:lnTo>
                <a:cubicBezTo>
                  <a:pt x="2099260" y="0"/>
                  <a:pt x="2140962" y="41702"/>
                  <a:pt x="2140962" y="93143"/>
                </a:cubicBezTo>
                <a:lnTo>
                  <a:pt x="2140962" y="722687"/>
                </a:lnTo>
                <a:cubicBezTo>
                  <a:pt x="2140962" y="774128"/>
                  <a:pt x="2099260" y="815830"/>
                  <a:pt x="2047819" y="815830"/>
                </a:cubicBezTo>
                <a:lnTo>
                  <a:pt x="1972279" y="815830"/>
                </a:lnTo>
                <a:lnTo>
                  <a:pt x="1822852" y="958499"/>
                </a:lnTo>
                <a:lnTo>
                  <a:pt x="1822852" y="815830"/>
                </a:lnTo>
                <a:lnTo>
                  <a:pt x="93143" y="815830"/>
                </a:lnTo>
                <a:cubicBezTo>
                  <a:pt x="41702" y="815830"/>
                  <a:pt x="0" y="774128"/>
                  <a:pt x="0" y="722687"/>
                </a:cubicBezTo>
                <a:lnTo>
                  <a:pt x="0" y="93143"/>
                </a:lnTo>
                <a:cubicBezTo>
                  <a:pt x="0" y="41702"/>
                  <a:pt x="41702" y="0"/>
                  <a:pt x="9314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72000">
                <a:schemeClr val="accent1">
                  <a:lumMod val="20000"/>
                  <a:lumOff val="80000"/>
                  <a:alpha val="54000"/>
                </a:schemeClr>
              </a:gs>
            </a:gsLst>
            <a:lin ang="189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4863157" y="1385351"/>
            <a:ext cx="2254017" cy="794277"/>
          </a:xfrm>
          <a:custGeom>
            <a:avLst/>
            <a:gdLst>
              <a:gd name="connsiteX0" fmla="*/ 93143 w 2140962"/>
              <a:gd name="connsiteY0" fmla="*/ 0 h 958499"/>
              <a:gd name="connsiteX1" fmla="*/ 2047819 w 2140962"/>
              <a:gd name="connsiteY1" fmla="*/ 0 h 958499"/>
              <a:gd name="connsiteX2" fmla="*/ 2140962 w 2140962"/>
              <a:gd name="connsiteY2" fmla="*/ 93143 h 958499"/>
              <a:gd name="connsiteX3" fmla="*/ 2140962 w 2140962"/>
              <a:gd name="connsiteY3" fmla="*/ 722687 h 958499"/>
              <a:gd name="connsiteX4" fmla="*/ 2047819 w 2140962"/>
              <a:gd name="connsiteY4" fmla="*/ 815830 h 958499"/>
              <a:gd name="connsiteX5" fmla="*/ 1972279 w 2140962"/>
              <a:gd name="connsiteY5" fmla="*/ 815830 h 958499"/>
              <a:gd name="connsiteX6" fmla="*/ 1822852 w 2140962"/>
              <a:gd name="connsiteY6" fmla="*/ 958499 h 958499"/>
              <a:gd name="connsiteX7" fmla="*/ 1822852 w 2140962"/>
              <a:gd name="connsiteY7" fmla="*/ 815830 h 958499"/>
              <a:gd name="connsiteX8" fmla="*/ 93143 w 2140962"/>
              <a:gd name="connsiteY8" fmla="*/ 815830 h 958499"/>
              <a:gd name="connsiteX9" fmla="*/ 0 w 2140962"/>
              <a:gd name="connsiteY9" fmla="*/ 722687 h 958499"/>
              <a:gd name="connsiteX10" fmla="*/ 0 w 2140962"/>
              <a:gd name="connsiteY10" fmla="*/ 93143 h 958499"/>
              <a:gd name="connsiteX11" fmla="*/ 93143 w 2140962"/>
              <a:gd name="connsiteY11" fmla="*/ 0 h 958499"/>
            </a:gdLst>
            <a:ahLst/>
            <a:cxnLst/>
            <a:rect l="l" t="t" r="r" b="b"/>
            <a:pathLst>
              <a:path w="2140962" h="958499">
                <a:moveTo>
                  <a:pt x="93143" y="0"/>
                </a:moveTo>
                <a:lnTo>
                  <a:pt x="2047819" y="0"/>
                </a:lnTo>
                <a:cubicBezTo>
                  <a:pt x="2099260" y="0"/>
                  <a:pt x="2140962" y="41702"/>
                  <a:pt x="2140962" y="93143"/>
                </a:cubicBezTo>
                <a:lnTo>
                  <a:pt x="2140962" y="722687"/>
                </a:lnTo>
                <a:cubicBezTo>
                  <a:pt x="2140962" y="774128"/>
                  <a:pt x="2099260" y="815830"/>
                  <a:pt x="2047819" y="815830"/>
                </a:cubicBezTo>
                <a:lnTo>
                  <a:pt x="1972279" y="815830"/>
                </a:lnTo>
                <a:lnTo>
                  <a:pt x="1822852" y="958499"/>
                </a:lnTo>
                <a:lnTo>
                  <a:pt x="1822852" y="815830"/>
                </a:lnTo>
                <a:lnTo>
                  <a:pt x="93143" y="815830"/>
                </a:lnTo>
                <a:cubicBezTo>
                  <a:pt x="41702" y="815830"/>
                  <a:pt x="0" y="774128"/>
                  <a:pt x="0" y="722687"/>
                </a:cubicBezTo>
                <a:lnTo>
                  <a:pt x="0" y="93143"/>
                </a:lnTo>
                <a:cubicBezTo>
                  <a:pt x="0" y="41702"/>
                  <a:pt x="41702" y="0"/>
                  <a:pt x="9314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9000">
                <a:schemeClr val="accent1"/>
              </a:gs>
            </a:gsLst>
            <a:lin ang="2700000" scaled="0"/>
          </a:gradFill>
          <a:ln w="12700" cap="sq">
            <a:noFill/>
            <a:miter/>
          </a:ln>
          <a:effectLst>
            <a:outerShdw blurRad="228600" dist="12700" dir="5400000" algn="t" rotWithShape="0">
              <a:schemeClr val="accent1">
                <a:lumMod val="7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4863157" y="1453648"/>
            <a:ext cx="2254017" cy="5184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3600">
                <a:latin typeface="等线" panose="02010600030101010101" charset="-122"/>
                <a:ea typeface="等线" panose="02010600030101010101" charset="-122"/>
              </a:rPr>
              <a:t>2025</a:t>
            </a:r>
            <a:endParaRPr kumimoji="1" lang="en-US" altLang="zh-CN" sz="360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10728224" y="6279365"/>
            <a:ext cx="1008113" cy="338628"/>
          </a:xfrm>
          <a:custGeom>
            <a:avLst/>
            <a:gdLst>
              <a:gd name="connsiteX0" fmla="*/ 415276 w 3541187"/>
              <a:gd name="connsiteY0" fmla="*/ 0 h 415276"/>
              <a:gd name="connsiteX1" fmla="*/ 0 w 3541187"/>
              <a:gd name="connsiteY1" fmla="*/ 0 h 415276"/>
              <a:gd name="connsiteX2" fmla="*/ 0 w 3541187"/>
              <a:gd name="connsiteY2" fmla="*/ 415276 h 415276"/>
              <a:gd name="connsiteX3" fmla="*/ 415276 w 3541187"/>
              <a:gd name="connsiteY3" fmla="*/ 415276 h 415276"/>
              <a:gd name="connsiteX4" fmla="*/ 1184675 w 3541187"/>
              <a:gd name="connsiteY4" fmla="*/ 0 h 415276"/>
              <a:gd name="connsiteX5" fmla="*/ 769399 w 3541187"/>
              <a:gd name="connsiteY5" fmla="*/ 0 h 415276"/>
              <a:gd name="connsiteX6" fmla="*/ 769399 w 3541187"/>
              <a:gd name="connsiteY6" fmla="*/ 415276 h 415276"/>
              <a:gd name="connsiteX7" fmla="*/ 1184675 w 3541187"/>
              <a:gd name="connsiteY7" fmla="*/ 415276 h 415276"/>
              <a:gd name="connsiteX8" fmla="*/ 1954074 w 3541187"/>
              <a:gd name="connsiteY8" fmla="*/ 0 h 415276"/>
              <a:gd name="connsiteX9" fmla="*/ 1538798 w 3541187"/>
              <a:gd name="connsiteY9" fmla="*/ 0 h 415276"/>
              <a:gd name="connsiteX10" fmla="*/ 1538798 w 3541187"/>
              <a:gd name="connsiteY10" fmla="*/ 415276 h 415276"/>
              <a:gd name="connsiteX11" fmla="*/ 1954074 w 3541187"/>
              <a:gd name="connsiteY11" fmla="*/ 415276 h 415276"/>
              <a:gd name="connsiteX12" fmla="*/ 2771788 w 3541187"/>
              <a:gd name="connsiteY12" fmla="*/ 0 h 415276"/>
              <a:gd name="connsiteX13" fmla="*/ 2356512 w 3541187"/>
              <a:gd name="connsiteY13" fmla="*/ 0 h 415276"/>
              <a:gd name="connsiteX14" fmla="*/ 2356512 w 3541187"/>
              <a:gd name="connsiteY14" fmla="*/ 415276 h 415276"/>
              <a:gd name="connsiteX15" fmla="*/ 2771788 w 3541187"/>
              <a:gd name="connsiteY15" fmla="*/ 415276 h 415276"/>
              <a:gd name="connsiteX16" fmla="*/ 3541187 w 3541187"/>
              <a:gd name="connsiteY16" fmla="*/ 0 h 415276"/>
              <a:gd name="connsiteX17" fmla="*/ 3125911 w 3541187"/>
              <a:gd name="connsiteY17" fmla="*/ 0 h 415276"/>
              <a:gd name="connsiteX18" fmla="*/ 3125911 w 3541187"/>
              <a:gd name="connsiteY18" fmla="*/ 415276 h 415276"/>
              <a:gd name="connsiteX19" fmla="*/ 3541187 w 3541187"/>
              <a:gd name="connsiteY19" fmla="*/ 415276 h 415276"/>
            </a:gdLst>
            <a:ahLst/>
            <a:cxnLst/>
            <a:rect l="l" t="t" r="r" b="b"/>
            <a:pathLst>
              <a:path w="3541187" h="415276">
                <a:moveTo>
                  <a:pt x="415276" y="0"/>
                </a:moveTo>
                <a:lnTo>
                  <a:pt x="0" y="0"/>
                </a:lnTo>
                <a:lnTo>
                  <a:pt x="0" y="415276"/>
                </a:lnTo>
                <a:lnTo>
                  <a:pt x="415276" y="415276"/>
                </a:lnTo>
                <a:close/>
                <a:moveTo>
                  <a:pt x="1184675" y="0"/>
                </a:moveTo>
                <a:lnTo>
                  <a:pt x="769399" y="0"/>
                </a:lnTo>
                <a:lnTo>
                  <a:pt x="769399" y="415276"/>
                </a:lnTo>
                <a:lnTo>
                  <a:pt x="1184675" y="415276"/>
                </a:lnTo>
                <a:close/>
                <a:moveTo>
                  <a:pt x="1954074" y="0"/>
                </a:moveTo>
                <a:lnTo>
                  <a:pt x="1538798" y="0"/>
                </a:lnTo>
                <a:lnTo>
                  <a:pt x="1538798" y="415276"/>
                </a:lnTo>
                <a:lnTo>
                  <a:pt x="1954074" y="415276"/>
                </a:lnTo>
                <a:close/>
                <a:moveTo>
                  <a:pt x="2771788" y="0"/>
                </a:moveTo>
                <a:lnTo>
                  <a:pt x="2356512" y="0"/>
                </a:lnTo>
                <a:lnTo>
                  <a:pt x="2356512" y="415276"/>
                </a:lnTo>
                <a:lnTo>
                  <a:pt x="2771788" y="415276"/>
                </a:lnTo>
                <a:close/>
                <a:moveTo>
                  <a:pt x="3541187" y="0"/>
                </a:moveTo>
                <a:lnTo>
                  <a:pt x="3125911" y="0"/>
                </a:lnTo>
                <a:lnTo>
                  <a:pt x="3125911" y="415276"/>
                </a:lnTo>
                <a:lnTo>
                  <a:pt x="3541187" y="41527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26" name="标题 1"/>
          <p:cNvCxnSpPr/>
          <p:nvPr/>
        </p:nvCxnSpPr>
        <p:spPr>
          <a:xfrm flipH="1" flipV="1">
            <a:off x="6297525" y="6445403"/>
            <a:ext cx="4104189" cy="6553"/>
          </a:xfrm>
          <a:prstGeom prst="line">
            <a:avLst/>
          </a:prstGeom>
          <a:noFill/>
          <a:ln w="19050" cap="sq">
            <a:solidFill>
              <a:schemeClr val="accent1">
                <a:lumMod val="60000"/>
                <a:lumOff val="40000"/>
              </a:schemeClr>
            </a:solidFill>
            <a:prstDash val="solid"/>
            <a:miter/>
            <a:headEnd type="oval" w="lg" len="lg"/>
            <a:tailEnd type="oval" w="lg" len="lg"/>
          </a:ln>
        </p:spPr>
      </p:cxnSp>
      <p:sp>
        <p:nvSpPr>
          <p:cNvPr id="27" name="标题 1"/>
          <p:cNvSpPr txBox="1"/>
          <p:nvPr/>
        </p:nvSpPr>
        <p:spPr>
          <a:xfrm flipV="1">
            <a:off x="3072680" y="589809"/>
            <a:ext cx="3636286" cy="53470"/>
          </a:xfrm>
          <a:custGeom>
            <a:avLst/>
            <a:gdLst>
              <a:gd name="connsiteX0" fmla="*/ 0 w 3636286"/>
              <a:gd name="connsiteY0" fmla="*/ 94727 h 94727"/>
              <a:gd name="connsiteX1" fmla="*/ 3419713 w 3636286"/>
              <a:gd name="connsiteY1" fmla="*/ 94727 h 94727"/>
              <a:gd name="connsiteX2" fmla="*/ 3528000 w 3636286"/>
              <a:gd name="connsiteY2" fmla="*/ 94727 h 94727"/>
              <a:gd name="connsiteX3" fmla="*/ 3636286 w 3636286"/>
              <a:gd name="connsiteY3" fmla="*/ 94727 h 94727"/>
              <a:gd name="connsiteX4" fmla="*/ 3419713 w 3636286"/>
              <a:gd name="connsiteY4" fmla="*/ 0 h 94727"/>
              <a:gd name="connsiteX5" fmla="*/ 3419713 w 3636286"/>
              <a:gd name="connsiteY5" fmla="*/ 58727 h 94727"/>
              <a:gd name="connsiteX6" fmla="*/ 0 w 3636286"/>
              <a:gd name="connsiteY6" fmla="*/ 58727 h 94727"/>
            </a:gdLst>
            <a:ahLst/>
            <a:cxnLst/>
            <a:rect l="l" t="t" r="r" b="b"/>
            <a:pathLst>
              <a:path w="3636286" h="94727">
                <a:moveTo>
                  <a:pt x="0" y="94727"/>
                </a:moveTo>
                <a:lnTo>
                  <a:pt x="3419713" y="94727"/>
                </a:lnTo>
                <a:lnTo>
                  <a:pt x="3528000" y="94727"/>
                </a:lnTo>
                <a:lnTo>
                  <a:pt x="3636286" y="94727"/>
                </a:lnTo>
                <a:lnTo>
                  <a:pt x="3419713" y="0"/>
                </a:lnTo>
                <a:lnTo>
                  <a:pt x="3419713" y="58727"/>
                </a:lnTo>
                <a:lnTo>
                  <a:pt x="0" y="5872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5014735" y="4849655"/>
            <a:ext cx="781452" cy="2807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/>
              <a:t>cyk</a:t>
            </a:r>
            <a:endParaRPr kumimoji="1" lang="en-US" altLang="zh-CN"/>
          </a:p>
        </p:txBody>
      </p:sp>
      <p:sp>
        <p:nvSpPr>
          <p:cNvPr id="29" name="标题 1"/>
          <p:cNvSpPr txBox="1"/>
          <p:nvPr/>
        </p:nvSpPr>
        <p:spPr>
          <a:xfrm>
            <a:off x="7722465" y="4846375"/>
            <a:ext cx="932662" cy="26191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5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2025.4
</a:t>
            </a: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4241949" y="4849655"/>
            <a:ext cx="917463" cy="2807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5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主讲人：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7143378" y="4846375"/>
            <a:ext cx="652620" cy="26191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5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4761" y="0"/>
            <a:ext cx="12196761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  </a:t>
            </a:r>
            <a:endParaRPr kumimoji="1" lang="en-US" altLang="zh-CN"/>
          </a:p>
        </p:txBody>
      </p:sp>
      <p:sp>
        <p:nvSpPr>
          <p:cNvPr id="3" name="标题 1"/>
          <p:cNvSpPr txBox="1"/>
          <p:nvPr/>
        </p:nvSpPr>
        <p:spPr>
          <a:xfrm>
            <a:off x="3634740" y="6129298"/>
            <a:ext cx="4922520" cy="83207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0" y="0"/>
            <a:ext cx="12192000" cy="250225"/>
          </a:xfrm>
          <a:prstGeom prst="rect">
            <a:avLst/>
          </a:prstGeom>
          <a:solidFill>
            <a:schemeClr val="accent2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5" name="标题 1"/>
          <p:cNvSpPr txBox="1"/>
          <p:nvPr/>
        </p:nvSpPr>
        <p:spPr>
          <a:xfrm>
            <a:off x="0" y="6401339"/>
            <a:ext cx="12192000" cy="814019"/>
          </a:xfrm>
          <a:custGeom>
            <a:avLst/>
            <a:gdLst>
              <a:gd name="connsiteX0" fmla="*/ 0 w 12192000"/>
              <a:gd name="connsiteY0" fmla="*/ 0 h 814019"/>
              <a:gd name="connsiteX1" fmla="*/ 3575099 w 12192000"/>
              <a:gd name="connsiteY1" fmla="*/ 0 h 814019"/>
              <a:gd name="connsiteX2" fmla="*/ 3755885 w 12192000"/>
              <a:gd name="connsiteY2" fmla="*/ 136343 h 814019"/>
              <a:gd name="connsiteX3" fmla="*/ 3772729 w 12192000"/>
              <a:gd name="connsiteY3" fmla="*/ 201425 h 814019"/>
              <a:gd name="connsiteX4" fmla="*/ 3953514 w 12192000"/>
              <a:gd name="connsiteY4" fmla="*/ 337769 h 814019"/>
              <a:gd name="connsiteX5" fmla="*/ 8239460 w 12192000"/>
              <a:gd name="connsiteY5" fmla="*/ 337769 h 814019"/>
              <a:gd name="connsiteX6" fmla="*/ 8420244 w 12192000"/>
              <a:gd name="connsiteY6" fmla="*/ 201425 h 814019"/>
              <a:gd name="connsiteX7" fmla="*/ 8437090 w 12192000"/>
              <a:gd name="connsiteY7" fmla="*/ 136343 h 814019"/>
              <a:gd name="connsiteX8" fmla="*/ 8617874 w 12192000"/>
              <a:gd name="connsiteY8" fmla="*/ 0 h 814019"/>
              <a:gd name="connsiteX9" fmla="*/ 12192000 w 12192000"/>
              <a:gd name="connsiteY9" fmla="*/ 0 h 814019"/>
              <a:gd name="connsiteX10" fmla="*/ 12192000 w 12192000"/>
              <a:gd name="connsiteY10" fmla="*/ 814019 h 814019"/>
              <a:gd name="connsiteX11" fmla="*/ 0 w 12192000"/>
              <a:gd name="connsiteY11" fmla="*/ 814019 h 814019"/>
            </a:gdLst>
            <a:ahLst/>
            <a:cxnLst/>
            <a:rect l="l" t="t" r="r" b="b"/>
            <a:pathLst>
              <a:path w="12192000" h="814019">
                <a:moveTo>
                  <a:pt x="0" y="0"/>
                </a:moveTo>
                <a:lnTo>
                  <a:pt x="3575099" y="0"/>
                </a:lnTo>
                <a:cubicBezTo>
                  <a:pt x="3660652" y="0"/>
                  <a:pt x="3735135" y="56173"/>
                  <a:pt x="3755885" y="136343"/>
                </a:cubicBezTo>
                <a:lnTo>
                  <a:pt x="3772729" y="201425"/>
                </a:lnTo>
                <a:cubicBezTo>
                  <a:pt x="3793479" y="281596"/>
                  <a:pt x="3867960" y="337769"/>
                  <a:pt x="3953514" y="337769"/>
                </a:cubicBezTo>
                <a:lnTo>
                  <a:pt x="8239460" y="337769"/>
                </a:lnTo>
                <a:cubicBezTo>
                  <a:pt x="8325012" y="337769"/>
                  <a:pt x="8399494" y="281596"/>
                  <a:pt x="8420244" y="201425"/>
                </a:cubicBezTo>
                <a:lnTo>
                  <a:pt x="8437090" y="136343"/>
                </a:lnTo>
                <a:cubicBezTo>
                  <a:pt x="8457838" y="56173"/>
                  <a:pt x="8532322" y="0"/>
                  <a:pt x="8617874" y="0"/>
                </a:cubicBezTo>
                <a:lnTo>
                  <a:pt x="12192000" y="0"/>
                </a:lnTo>
                <a:lnTo>
                  <a:pt x="12192000" y="814019"/>
                </a:lnTo>
                <a:lnTo>
                  <a:pt x="0" y="814019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430806" y="1109926"/>
            <a:ext cx="3327400" cy="1460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0165FF">
                    <a:alpha val="100000"/>
                  </a:srgbClr>
                </a:solidFill>
                <a:latin typeface="HelloFont WenYiHei" panose="00020600040101010101" charset="-122"/>
                <a:ea typeface="HelloFont WenYiHei" panose="00020600040101010101" charset="-122"/>
                <a:cs typeface="HelloFont WenYiHei" panose="00020600040101010101" charset="-122"/>
              </a:rPr>
              <a:t>目录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427804" y="3349571"/>
            <a:ext cx="825500" cy="558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kumimoji="1" lang="en-US" altLang="zh-CN" sz="4400">
                <a:ln w="12700">
                  <a:solidFill>
                    <a:srgbClr val="01A0E4">
                      <a:alpha val="100000"/>
                    </a:srgbClr>
                  </a:solidFill>
                </a:ln>
                <a:noFill/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01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427804" y="4299824"/>
            <a:ext cx="825500" cy="558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kumimoji="1" lang="en-US" altLang="zh-CN" sz="4400">
                <a:ln w="12700">
                  <a:solidFill>
                    <a:srgbClr val="01A0E4">
                      <a:alpha val="100000"/>
                    </a:srgbClr>
                  </a:solidFill>
                </a:ln>
                <a:noFill/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02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726487" y="3349571"/>
            <a:ext cx="825500" cy="558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kumimoji="1" lang="en-US" altLang="zh-CN" sz="4400">
                <a:ln w="12700">
                  <a:solidFill>
                    <a:srgbClr val="01A0E4">
                      <a:alpha val="100000"/>
                    </a:srgbClr>
                  </a:solidFill>
                </a:ln>
                <a:noFill/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04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726487" y="4299824"/>
            <a:ext cx="825500" cy="558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kumimoji="1" lang="en-US" altLang="zh-CN" sz="4400">
                <a:ln w="12700">
                  <a:solidFill>
                    <a:srgbClr val="01A0E4">
                      <a:alpha val="100000"/>
                    </a:srgbClr>
                  </a:solidFill>
                </a:ln>
                <a:noFill/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05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629151" y="3257730"/>
            <a:ext cx="3693009" cy="83207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0C6BFF">
                    <a:alpha val="100000"/>
                  </a:srgbClr>
                </a:solidFill>
                <a:latin typeface="HelloFont WenYiHei" panose="00020600040101010101" charset="-122"/>
                <a:ea typeface="HelloFont WenYiHei" panose="00020600040101010101" charset="-122"/>
                <a:cs typeface="HelloFont WenYiHei" panose="00020600040101010101" charset="-122"/>
              </a:rPr>
              <a:t>模型概述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2629151" y="4207983"/>
            <a:ext cx="3693009" cy="83207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0C6BFF">
                    <a:alpha val="100000"/>
                  </a:srgbClr>
                </a:solidFill>
                <a:latin typeface="HelloFont WenYiHei" panose="00020600040101010101" charset="-122"/>
                <a:ea typeface="HelloFont WenYiHei" panose="00020600040101010101" charset="-122"/>
                <a:cs typeface="HelloFont WenYiHei" panose="00020600040101010101" charset="-122"/>
              </a:rPr>
              <a:t>实验设置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825891" y="3257730"/>
            <a:ext cx="3693009" cy="83207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0C6BFF">
                    <a:alpha val="100000"/>
                  </a:srgbClr>
                </a:solidFill>
                <a:latin typeface="HelloFont WenYiHei" panose="00020600040101010101" charset="-122"/>
                <a:ea typeface="HelloFont WenYiHei" panose="00020600040101010101" charset="-122"/>
                <a:cs typeface="HelloFont WenYiHei" panose="00020600040101010101" charset="-122"/>
              </a:rPr>
              <a:t>结果对比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825891" y="4207983"/>
            <a:ext cx="3693009" cy="83207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0C6BFF">
                    <a:alpha val="100000"/>
                  </a:srgbClr>
                </a:solidFill>
                <a:latin typeface="HelloFont WenYiHei" panose="00020600040101010101" charset="-122"/>
                <a:ea typeface="HelloFont WenYiHei" panose="00020600040101010101" charset="-122"/>
                <a:cs typeface="HelloFont WenYiHei" panose="00020600040101010101" charset="-122"/>
              </a:rPr>
              <a:t>结论与展望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427804" y="5250078"/>
            <a:ext cx="825500" cy="558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kumimoji="1" lang="en-US" altLang="zh-CN" sz="4400">
                <a:ln w="12700">
                  <a:solidFill>
                    <a:srgbClr val="01A0E4">
                      <a:alpha val="100000"/>
                    </a:srgbClr>
                  </a:solidFill>
                </a:ln>
                <a:noFill/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03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2629151" y="5158237"/>
            <a:ext cx="3693009" cy="83207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0C6BFF">
                    <a:alpha val="100000"/>
                  </a:srgbClr>
                </a:solidFill>
                <a:latin typeface="HelloFont WenYiHei" panose="00020600040101010101" charset="-122"/>
                <a:ea typeface="HelloFont WenYiHei" panose="00020600040101010101" charset="-122"/>
                <a:cs typeface="HelloFont WenYiHei" panose="00020600040101010101" charset="-122"/>
              </a:rPr>
              <a:t>模型性能评估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blipFill>
            <a:blip r:embed="rId1"/>
            <a:srcRect/>
            <a:stretch>
              <a:fillRect l="-164" r="-164"/>
            </a:stretch>
          </a:blip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bg1">
              <a:alpha val="92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4" name="标题 1"/>
          <p:cNvSpPr txBox="1"/>
          <p:nvPr/>
        </p:nvSpPr>
        <p:spPr>
          <a:xfrm rot="3172644">
            <a:off x="1879916" y="1518209"/>
            <a:ext cx="672025" cy="672025"/>
          </a:xfrm>
          <a:prstGeom prst="ellipse">
            <a:avLst/>
          </a:prstGeom>
          <a:gradFill>
            <a:gsLst>
              <a:gs pos="9000">
                <a:schemeClr val="accent4">
                  <a:lumMod val="40000"/>
                  <a:lumOff val="60000"/>
                  <a:alpha val="80000"/>
                </a:schemeClr>
              </a:gs>
              <a:gs pos="100000">
                <a:schemeClr val="bg1">
                  <a:alpha val="7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1" y="4800602"/>
            <a:ext cx="5844209" cy="2064024"/>
          </a:xfrm>
          <a:custGeom>
            <a:avLst/>
            <a:gdLst>
              <a:gd name="connsiteX0" fmla="*/ 0 w 3095538"/>
              <a:gd name="connsiteY0" fmla="*/ 181103 h 1093264"/>
              <a:gd name="connsiteX1" fmla="*/ 1761689 w 3095538"/>
              <a:gd name="connsiteY1" fmla="*/ 546023 h 1093264"/>
              <a:gd name="connsiteX2" fmla="*/ 3095538 w 3095538"/>
              <a:gd name="connsiteY2" fmla="*/ 1093264 h 1093264"/>
              <a:gd name="connsiteX3" fmla="*/ 0 w 3095538"/>
              <a:gd name="connsiteY3" fmla="*/ 1093264 h 1093264"/>
              <a:gd name="connsiteX4" fmla="*/ 0 w 3095538"/>
              <a:gd name="connsiteY4" fmla="*/ 181103 h 1093264"/>
              <a:gd name="connsiteX5" fmla="*/ 0 w 3095538"/>
              <a:gd name="connsiteY5" fmla="*/ 184030 h 1096191"/>
            </a:gdLst>
            <a:ahLst/>
            <a:cxnLst/>
            <a:rect l="l" t="t" r="r" b="b"/>
            <a:pathLst>
              <a:path w="3095538" h="1093264">
                <a:moveTo>
                  <a:pt x="0" y="181103"/>
                </a:moveTo>
                <a:cubicBezTo>
                  <a:pt x="664128" y="-313847"/>
                  <a:pt x="1395369" y="340493"/>
                  <a:pt x="1761689" y="546023"/>
                </a:cubicBezTo>
                <a:cubicBezTo>
                  <a:pt x="2270621" y="847281"/>
                  <a:pt x="2599190" y="1043676"/>
                  <a:pt x="3095538" y="1093264"/>
                </a:cubicBezTo>
                <a:lnTo>
                  <a:pt x="0" y="1093264"/>
                </a:lnTo>
                <a:lnTo>
                  <a:pt x="0" y="18110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83000"/>
                </a:schemeClr>
              </a:gs>
              <a:gs pos="92000">
                <a:schemeClr val="accent2">
                  <a:alpha val="7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3760697"/>
            <a:ext cx="1826546" cy="3103929"/>
          </a:xfrm>
          <a:custGeom>
            <a:avLst/>
            <a:gdLst>
              <a:gd name="connsiteX0" fmla="*/ 0 w 1098373"/>
              <a:gd name="connsiteY0" fmla="*/ 411206 h 1732006"/>
              <a:gd name="connsiteX1" fmla="*/ 996333 w 1098373"/>
              <a:gd name="connsiteY1" fmla="*/ 79840 h 1732006"/>
              <a:gd name="connsiteX2" fmla="*/ 903120 w 1098373"/>
              <a:gd name="connsiteY2" fmla="*/ 740149 h 1732006"/>
              <a:gd name="connsiteX3" fmla="*/ 975360 w 1098373"/>
              <a:gd name="connsiteY3" fmla="*/ 1732006 h 1732006"/>
              <a:gd name="connsiteX4" fmla="*/ 0 w 1098373"/>
              <a:gd name="connsiteY4" fmla="*/ 1732006 h 1732006"/>
              <a:gd name="connsiteX5" fmla="*/ 0 w 1098373"/>
              <a:gd name="connsiteY5" fmla="*/ 411206 h 1732006"/>
            </a:gdLst>
            <a:ahLst/>
            <a:cxnLst/>
            <a:rect l="l" t="t" r="r" b="b"/>
            <a:pathLst>
              <a:path w="1098373" h="1732006">
                <a:moveTo>
                  <a:pt x="0" y="411206"/>
                </a:moveTo>
                <a:cubicBezTo>
                  <a:pt x="374056" y="-51587"/>
                  <a:pt x="832002" y="-61375"/>
                  <a:pt x="996333" y="79840"/>
                </a:cubicBezTo>
                <a:cubicBezTo>
                  <a:pt x="1185303" y="262595"/>
                  <a:pt x="1086978" y="569651"/>
                  <a:pt x="903120" y="740149"/>
                </a:cubicBezTo>
                <a:cubicBezTo>
                  <a:pt x="446620" y="1149733"/>
                  <a:pt x="426099" y="1564600"/>
                  <a:pt x="975360" y="1732006"/>
                </a:cubicBezTo>
                <a:lnTo>
                  <a:pt x="0" y="1732006"/>
                </a:lnTo>
                <a:lnTo>
                  <a:pt x="0" y="41120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9000"/>
                </a:schemeClr>
              </a:gs>
              <a:gs pos="100000">
                <a:schemeClr val="accent2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408950" y="-6626"/>
            <a:ext cx="4783050" cy="1477215"/>
          </a:xfrm>
          <a:custGeom>
            <a:avLst/>
            <a:gdLst>
              <a:gd name="connsiteX0" fmla="*/ 462410 w 2811328"/>
              <a:gd name="connsiteY0" fmla="*/ 0 h 868261"/>
              <a:gd name="connsiteX1" fmla="*/ 2811328 w 2811328"/>
              <a:gd name="connsiteY1" fmla="*/ 0 h 868261"/>
              <a:gd name="connsiteX2" fmla="*/ 2811328 w 2811328"/>
              <a:gd name="connsiteY2" fmla="*/ 868261 h 868261"/>
              <a:gd name="connsiteX3" fmla="*/ 982529 w 2811328"/>
              <a:gd name="connsiteY3" fmla="*/ 683703 h 868261"/>
              <a:gd name="connsiteX4" fmla="*/ 5210 w 2811328"/>
              <a:gd name="connsiteY4" fmla="*/ 654342 h 868261"/>
              <a:gd name="connsiteX5" fmla="*/ 462410 w 2811328"/>
              <a:gd name="connsiteY5" fmla="*/ 0 h 868261"/>
            </a:gdLst>
            <a:ahLst/>
            <a:cxnLst/>
            <a:rect l="l" t="t" r="r" b="b"/>
            <a:pathLst>
              <a:path w="2811328" h="868261">
                <a:moveTo>
                  <a:pt x="462410" y="0"/>
                </a:moveTo>
                <a:lnTo>
                  <a:pt x="2811328" y="0"/>
                </a:lnTo>
                <a:lnTo>
                  <a:pt x="2811328" y="868261"/>
                </a:lnTo>
                <a:cubicBezTo>
                  <a:pt x="2345739" y="308995"/>
                  <a:pt x="1153804" y="650846"/>
                  <a:pt x="982529" y="683703"/>
                </a:cubicBezTo>
                <a:cubicBezTo>
                  <a:pt x="404388" y="854978"/>
                  <a:pt x="58280" y="883459"/>
                  <a:pt x="5210" y="654342"/>
                </a:cubicBezTo>
                <a:cubicBezTo>
                  <a:pt x="-46523" y="236290"/>
                  <a:pt x="300222" y="78298"/>
                  <a:pt x="4624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alpha val="8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0193345" y="-6625"/>
            <a:ext cx="1998655" cy="3533484"/>
          </a:xfrm>
          <a:custGeom>
            <a:avLst/>
            <a:gdLst>
              <a:gd name="connsiteX0" fmla="*/ 155567 w 1095134"/>
              <a:gd name="connsiteY0" fmla="*/ 0 h 1738370"/>
              <a:gd name="connsiteX1" fmla="*/ 1095134 w 1095134"/>
              <a:gd name="connsiteY1" fmla="*/ 0 h 1738370"/>
              <a:gd name="connsiteX2" fmla="*/ 1095134 w 1095134"/>
              <a:gd name="connsiteY2" fmla="*/ 1342239 h 1738370"/>
              <a:gd name="connsiteX3" fmla="*/ 109427 w 1095134"/>
              <a:gd name="connsiteY3" fmla="*/ 1665214 h 1738370"/>
              <a:gd name="connsiteX4" fmla="*/ 541465 w 1095134"/>
              <a:gd name="connsiteY4" fmla="*/ 503339 h 1738370"/>
              <a:gd name="connsiteX5" fmla="*/ 155567 w 1095134"/>
              <a:gd name="connsiteY5" fmla="*/ 0 h 1738370"/>
            </a:gdLst>
            <a:ahLst/>
            <a:cxnLst/>
            <a:rect l="l" t="t" r="r" b="b"/>
            <a:pathLst>
              <a:path w="1095134" h="1738369">
                <a:moveTo>
                  <a:pt x="155567" y="0"/>
                </a:moveTo>
                <a:lnTo>
                  <a:pt x="1095134" y="0"/>
                </a:lnTo>
                <a:lnTo>
                  <a:pt x="1095134" y="1342239"/>
                </a:lnTo>
                <a:cubicBezTo>
                  <a:pt x="556841" y="1856764"/>
                  <a:pt x="203105" y="1754697"/>
                  <a:pt x="109427" y="1665214"/>
                </a:cubicBezTo>
                <a:cubicBezTo>
                  <a:pt x="-278562" y="1249260"/>
                  <a:pt x="485538" y="824916"/>
                  <a:pt x="541465" y="503339"/>
                </a:cubicBezTo>
                <a:cubicBezTo>
                  <a:pt x="572225" y="257262"/>
                  <a:pt x="363196" y="109756"/>
                  <a:pt x="155567" y="0"/>
                </a:cubicBezTo>
                <a:close/>
              </a:path>
            </a:pathLst>
          </a:custGeom>
          <a:gradFill>
            <a:gsLst>
              <a:gs pos="13000">
                <a:schemeClr val="accent1">
                  <a:alpha val="70000"/>
                </a:schemeClr>
              </a:gs>
              <a:gs pos="56000">
                <a:schemeClr val="accent1">
                  <a:alpha val="4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1120086" y="1610229"/>
            <a:ext cx="1071914" cy="4410721"/>
          </a:xfrm>
          <a:custGeom>
            <a:avLst/>
            <a:gdLst>
              <a:gd name="connsiteX0" fmla="*/ 2562 w 470947"/>
              <a:gd name="connsiteY0" fmla="*/ 541090 h 1937857"/>
              <a:gd name="connsiteX1" fmla="*/ 470947 w 470947"/>
              <a:gd name="connsiteY1" fmla="*/ 0 h 1937857"/>
              <a:gd name="connsiteX2" fmla="*/ 470947 w 470947"/>
              <a:gd name="connsiteY2" fmla="*/ 1937857 h 1937857"/>
              <a:gd name="connsiteX3" fmla="*/ 2562 w 470947"/>
              <a:gd name="connsiteY3" fmla="*/ 541090 h 1937857"/>
              <a:gd name="connsiteX4" fmla="*/ 2562 w 470947"/>
              <a:gd name="connsiteY4" fmla="*/ 541090 h 1937857"/>
            </a:gdLst>
            <a:ahLst/>
            <a:cxnLst/>
            <a:rect l="l" t="t" r="r" b="b"/>
            <a:pathLst>
              <a:path w="470947" h="1937857">
                <a:moveTo>
                  <a:pt x="2562" y="541090"/>
                </a:moveTo>
                <a:cubicBezTo>
                  <a:pt x="-34257" y="142614"/>
                  <a:pt x="335792" y="33555"/>
                  <a:pt x="470947" y="0"/>
                </a:cubicBezTo>
                <a:lnTo>
                  <a:pt x="470947" y="1937857"/>
                </a:lnTo>
                <a:cubicBezTo>
                  <a:pt x="453237" y="1279321"/>
                  <a:pt x="74800" y="985706"/>
                  <a:pt x="2562" y="54109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85000">
                <a:schemeClr val="accent2"/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51176" y="3262121"/>
            <a:ext cx="971224" cy="971224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1000">
                <a:schemeClr val="accent1">
                  <a:alpha val="22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285431" y="201326"/>
            <a:ext cx="596569" cy="596569"/>
          </a:xfrm>
          <a:prstGeom prst="ellipse">
            <a:avLst/>
          </a:prstGeom>
          <a:gradFill>
            <a:gsLst>
              <a:gs pos="0">
                <a:schemeClr val="accent2"/>
              </a:gs>
              <a:gs pos="81000">
                <a:schemeClr val="accent1">
                  <a:alpha val="47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172120" y="5862182"/>
            <a:ext cx="386558" cy="386558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  <a:alpha val="13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1369984" y="4043547"/>
            <a:ext cx="596569" cy="59656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  <a:alpha val="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0029423" y="1084105"/>
            <a:ext cx="307272" cy="307272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  <a:alpha val="1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728224" y="6279365"/>
            <a:ext cx="1008113" cy="338628"/>
          </a:xfrm>
          <a:custGeom>
            <a:avLst/>
            <a:gdLst>
              <a:gd name="connsiteX0" fmla="*/ 415276 w 3541187"/>
              <a:gd name="connsiteY0" fmla="*/ 0 h 415276"/>
              <a:gd name="connsiteX1" fmla="*/ 0 w 3541187"/>
              <a:gd name="connsiteY1" fmla="*/ 0 h 415276"/>
              <a:gd name="connsiteX2" fmla="*/ 0 w 3541187"/>
              <a:gd name="connsiteY2" fmla="*/ 415276 h 415276"/>
              <a:gd name="connsiteX3" fmla="*/ 415276 w 3541187"/>
              <a:gd name="connsiteY3" fmla="*/ 415276 h 415276"/>
              <a:gd name="connsiteX4" fmla="*/ 1184675 w 3541187"/>
              <a:gd name="connsiteY4" fmla="*/ 0 h 415276"/>
              <a:gd name="connsiteX5" fmla="*/ 769399 w 3541187"/>
              <a:gd name="connsiteY5" fmla="*/ 0 h 415276"/>
              <a:gd name="connsiteX6" fmla="*/ 769399 w 3541187"/>
              <a:gd name="connsiteY6" fmla="*/ 415276 h 415276"/>
              <a:gd name="connsiteX7" fmla="*/ 1184675 w 3541187"/>
              <a:gd name="connsiteY7" fmla="*/ 415276 h 415276"/>
              <a:gd name="connsiteX8" fmla="*/ 1954074 w 3541187"/>
              <a:gd name="connsiteY8" fmla="*/ 0 h 415276"/>
              <a:gd name="connsiteX9" fmla="*/ 1538798 w 3541187"/>
              <a:gd name="connsiteY9" fmla="*/ 0 h 415276"/>
              <a:gd name="connsiteX10" fmla="*/ 1538798 w 3541187"/>
              <a:gd name="connsiteY10" fmla="*/ 415276 h 415276"/>
              <a:gd name="connsiteX11" fmla="*/ 1954074 w 3541187"/>
              <a:gd name="connsiteY11" fmla="*/ 415276 h 415276"/>
              <a:gd name="connsiteX12" fmla="*/ 2771788 w 3541187"/>
              <a:gd name="connsiteY12" fmla="*/ 0 h 415276"/>
              <a:gd name="connsiteX13" fmla="*/ 2356512 w 3541187"/>
              <a:gd name="connsiteY13" fmla="*/ 0 h 415276"/>
              <a:gd name="connsiteX14" fmla="*/ 2356512 w 3541187"/>
              <a:gd name="connsiteY14" fmla="*/ 415276 h 415276"/>
              <a:gd name="connsiteX15" fmla="*/ 2771788 w 3541187"/>
              <a:gd name="connsiteY15" fmla="*/ 415276 h 415276"/>
              <a:gd name="connsiteX16" fmla="*/ 3541187 w 3541187"/>
              <a:gd name="connsiteY16" fmla="*/ 0 h 415276"/>
              <a:gd name="connsiteX17" fmla="*/ 3125911 w 3541187"/>
              <a:gd name="connsiteY17" fmla="*/ 0 h 415276"/>
              <a:gd name="connsiteX18" fmla="*/ 3125911 w 3541187"/>
              <a:gd name="connsiteY18" fmla="*/ 415276 h 415276"/>
              <a:gd name="connsiteX19" fmla="*/ 3541187 w 3541187"/>
              <a:gd name="connsiteY19" fmla="*/ 415276 h 415276"/>
            </a:gdLst>
            <a:ahLst/>
            <a:cxnLst/>
            <a:rect l="l" t="t" r="r" b="b"/>
            <a:pathLst>
              <a:path w="3541187" h="415276">
                <a:moveTo>
                  <a:pt x="415276" y="0"/>
                </a:moveTo>
                <a:lnTo>
                  <a:pt x="0" y="0"/>
                </a:lnTo>
                <a:lnTo>
                  <a:pt x="0" y="415276"/>
                </a:lnTo>
                <a:lnTo>
                  <a:pt x="415276" y="415276"/>
                </a:lnTo>
                <a:close/>
                <a:moveTo>
                  <a:pt x="1184675" y="0"/>
                </a:moveTo>
                <a:lnTo>
                  <a:pt x="769399" y="0"/>
                </a:lnTo>
                <a:lnTo>
                  <a:pt x="769399" y="415276"/>
                </a:lnTo>
                <a:lnTo>
                  <a:pt x="1184675" y="415276"/>
                </a:lnTo>
                <a:close/>
                <a:moveTo>
                  <a:pt x="1954074" y="0"/>
                </a:moveTo>
                <a:lnTo>
                  <a:pt x="1538798" y="0"/>
                </a:lnTo>
                <a:lnTo>
                  <a:pt x="1538798" y="415276"/>
                </a:lnTo>
                <a:lnTo>
                  <a:pt x="1954074" y="415276"/>
                </a:lnTo>
                <a:close/>
                <a:moveTo>
                  <a:pt x="2771788" y="0"/>
                </a:moveTo>
                <a:lnTo>
                  <a:pt x="2356512" y="0"/>
                </a:lnTo>
                <a:lnTo>
                  <a:pt x="2356512" y="415276"/>
                </a:lnTo>
                <a:lnTo>
                  <a:pt x="2771788" y="415276"/>
                </a:lnTo>
                <a:close/>
                <a:moveTo>
                  <a:pt x="3541187" y="0"/>
                </a:moveTo>
                <a:lnTo>
                  <a:pt x="3125911" y="0"/>
                </a:lnTo>
                <a:lnTo>
                  <a:pt x="3125911" y="415276"/>
                </a:lnTo>
                <a:lnTo>
                  <a:pt x="3541187" y="41527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7" name="标题 1"/>
          <p:cNvCxnSpPr/>
          <p:nvPr/>
        </p:nvCxnSpPr>
        <p:spPr>
          <a:xfrm flipH="1" flipV="1">
            <a:off x="6297525" y="6445403"/>
            <a:ext cx="4104189" cy="6553"/>
          </a:xfrm>
          <a:prstGeom prst="line">
            <a:avLst/>
          </a:prstGeom>
          <a:noFill/>
          <a:ln w="19050" cap="sq">
            <a:solidFill>
              <a:schemeClr val="accent1">
                <a:lumMod val="60000"/>
                <a:lumOff val="40000"/>
              </a:schemeClr>
            </a:solidFill>
            <a:prstDash val="solid"/>
            <a:miter/>
            <a:headEnd type="oval" w="lg" len="lg"/>
            <a:tailEnd type="oval" w="lg" len="lg"/>
          </a:ln>
        </p:spPr>
      </p:cxnSp>
      <p:sp>
        <p:nvSpPr>
          <p:cNvPr id="18" name="标题 1"/>
          <p:cNvSpPr txBox="1"/>
          <p:nvPr/>
        </p:nvSpPr>
        <p:spPr>
          <a:xfrm flipV="1">
            <a:off x="3072680" y="589809"/>
            <a:ext cx="3636286" cy="53470"/>
          </a:xfrm>
          <a:custGeom>
            <a:avLst/>
            <a:gdLst>
              <a:gd name="connsiteX0" fmla="*/ 0 w 3636286"/>
              <a:gd name="connsiteY0" fmla="*/ 94727 h 94727"/>
              <a:gd name="connsiteX1" fmla="*/ 3419713 w 3636286"/>
              <a:gd name="connsiteY1" fmla="*/ 94727 h 94727"/>
              <a:gd name="connsiteX2" fmla="*/ 3528000 w 3636286"/>
              <a:gd name="connsiteY2" fmla="*/ 94727 h 94727"/>
              <a:gd name="connsiteX3" fmla="*/ 3636286 w 3636286"/>
              <a:gd name="connsiteY3" fmla="*/ 94727 h 94727"/>
              <a:gd name="connsiteX4" fmla="*/ 3419713 w 3636286"/>
              <a:gd name="connsiteY4" fmla="*/ 0 h 94727"/>
              <a:gd name="connsiteX5" fmla="*/ 3419713 w 3636286"/>
              <a:gd name="connsiteY5" fmla="*/ 58727 h 94727"/>
              <a:gd name="connsiteX6" fmla="*/ 0 w 3636286"/>
              <a:gd name="connsiteY6" fmla="*/ 58727 h 94727"/>
            </a:gdLst>
            <a:ahLst/>
            <a:cxnLst/>
            <a:rect l="l" t="t" r="r" b="b"/>
            <a:pathLst>
              <a:path w="3636286" h="94727">
                <a:moveTo>
                  <a:pt x="0" y="94727"/>
                </a:moveTo>
                <a:lnTo>
                  <a:pt x="3419713" y="94727"/>
                </a:lnTo>
                <a:lnTo>
                  <a:pt x="3528000" y="94727"/>
                </a:lnTo>
                <a:lnTo>
                  <a:pt x="3636286" y="94727"/>
                </a:lnTo>
                <a:lnTo>
                  <a:pt x="3419713" y="0"/>
                </a:lnTo>
                <a:lnTo>
                  <a:pt x="3419713" y="58727"/>
                </a:lnTo>
                <a:lnTo>
                  <a:pt x="0" y="5872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861076" y="2734349"/>
            <a:ext cx="6470241" cy="21632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5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模型概述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3693196" y="5023485"/>
            <a:ext cx="4805608" cy="473593"/>
          </a:xfrm>
          <a:custGeom>
            <a:avLst/>
            <a:gdLst>
              <a:gd name="T0" fmla="*/ 563 w 646"/>
              <a:gd name="T1" fmla="*/ 208 h 208"/>
              <a:gd name="T2" fmla="*/ 23 w 646"/>
              <a:gd name="T3" fmla="*/ 208 h 208"/>
              <a:gd name="T4" fmla="*/ 5 w 646"/>
              <a:gd name="T5" fmla="*/ 182 h 208"/>
              <a:gd name="T6" fmla="*/ 50 w 646"/>
              <a:gd name="T7" fmla="*/ 27 h 208"/>
              <a:gd name="T8" fmla="*/ 83 w 646"/>
              <a:gd name="T9" fmla="*/ 0 h 208"/>
              <a:gd name="T10" fmla="*/ 623 w 646"/>
              <a:gd name="T11" fmla="*/ 0 h 208"/>
              <a:gd name="T12" fmla="*/ 642 w 646"/>
              <a:gd name="T13" fmla="*/ 27 h 208"/>
              <a:gd name="T14" fmla="*/ 597 w 646"/>
              <a:gd name="T15" fmla="*/ 182 h 208"/>
              <a:gd name="T16" fmla="*/ 563 w 646"/>
              <a:gd name="T17" fmla="*/ 208 h 208"/>
            </a:gdLst>
            <a:ahLst/>
            <a:cxnLst/>
            <a:rect l="0" t="0" r="r" b="b"/>
            <a:pathLst>
              <a:path w="646" h="208">
                <a:moveTo>
                  <a:pt x="563" y="208"/>
                </a:moveTo>
                <a:cubicBezTo>
                  <a:pt x="23" y="208"/>
                  <a:pt x="23" y="208"/>
                  <a:pt x="23" y="208"/>
                </a:cubicBezTo>
                <a:cubicBezTo>
                  <a:pt x="9" y="208"/>
                  <a:pt x="0" y="196"/>
                  <a:pt x="5" y="182"/>
                </a:cubicBezTo>
                <a:cubicBezTo>
                  <a:pt x="50" y="27"/>
                  <a:pt x="50" y="27"/>
                  <a:pt x="50" y="27"/>
                </a:cubicBezTo>
                <a:cubicBezTo>
                  <a:pt x="54" y="12"/>
                  <a:pt x="69" y="0"/>
                  <a:pt x="83" y="0"/>
                </a:cubicBezTo>
                <a:cubicBezTo>
                  <a:pt x="623" y="0"/>
                  <a:pt x="623" y="0"/>
                  <a:pt x="623" y="0"/>
                </a:cubicBezTo>
                <a:cubicBezTo>
                  <a:pt x="638" y="0"/>
                  <a:pt x="646" y="12"/>
                  <a:pt x="642" y="27"/>
                </a:cubicBezTo>
                <a:cubicBezTo>
                  <a:pt x="597" y="182"/>
                  <a:pt x="597" y="182"/>
                  <a:pt x="597" y="182"/>
                </a:cubicBezTo>
                <a:cubicBezTo>
                  <a:pt x="593" y="196"/>
                  <a:pt x="578" y="208"/>
                  <a:pt x="563" y="208"/>
                </a:cubicBezTo>
                <a:close/>
              </a:path>
            </a:pathLst>
          </a:custGeom>
          <a:gradFill>
            <a:gsLst>
              <a:gs pos="25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20000"/>
                  <a:lumOff val="80000"/>
                  <a:alpha val="11000"/>
                </a:schemeClr>
              </a:gs>
            </a:gsLst>
            <a:lin ang="18900000" scaled="0"/>
          </a:gradFill>
          <a:ln w="12700" cap="sq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4321067" y="5118254"/>
            <a:ext cx="3549866" cy="2840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gradFill>
                  <a:gsLst>
                    <a:gs pos="13000">
                      <a:srgbClr val="0C6BFF">
                        <a:alpha val="100000"/>
                      </a:srgbClr>
                    </a:gs>
                    <a:gs pos="90000">
                      <a:srgbClr val="9EC4FF">
                        <a:alpha val="100000"/>
                      </a:srgbClr>
                    </a:gs>
                  </a:gsLst>
                  <a:lin ang="5400000" scaled="0"/>
                </a:gra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POWERPOINT DESIGN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4148161" y="1751568"/>
            <a:ext cx="2082800" cy="8275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5400">
                <a:ln w="12700">
                  <a:noFill/>
                </a:ln>
                <a:gradFill>
                  <a:gsLst>
                    <a:gs pos="19000">
                      <a:srgbClr val="0C6BFF">
                        <a:alpha val="100000"/>
                      </a:srgbClr>
                    </a:gs>
                    <a:gs pos="83000">
                      <a:srgbClr val="0165FF">
                        <a:alpha val="10000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PART.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671770" y="646668"/>
            <a:ext cx="1194270" cy="19324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5400">
                <a:ln w="12700">
                  <a:noFill/>
                </a:ln>
                <a:gradFill>
                  <a:gsLst>
                    <a:gs pos="19000">
                      <a:srgbClr val="0C6BFF">
                        <a:alpha val="100000"/>
                      </a:srgbClr>
                    </a:gs>
                    <a:gs pos="83000">
                      <a:srgbClr val="0165FF">
                        <a:alpha val="10000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01</a:t>
            </a:r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4761" y="0"/>
            <a:ext cx="12196761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3" name="标题 1"/>
          <p:cNvSpPr txBox="1"/>
          <p:nvPr/>
        </p:nvSpPr>
        <p:spPr>
          <a:xfrm>
            <a:off x="737283" y="2334127"/>
            <a:ext cx="5133468" cy="3208421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4" name="标题 1"/>
          <p:cNvSpPr txBox="1"/>
          <p:nvPr/>
        </p:nvSpPr>
        <p:spPr>
          <a:xfrm rot="10800000">
            <a:off x="2253259" y="1949116"/>
            <a:ext cx="2101516" cy="1042738"/>
          </a:xfrm>
          <a:prstGeom prst="flowChartExtra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2916047" y="1756611"/>
            <a:ext cx="775942" cy="385010"/>
          </a:xfrm>
          <a:prstGeom prst="flowChartExtra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111511" y="2277979"/>
            <a:ext cx="385012" cy="385012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048609" y="3646170"/>
            <a:ext cx="4821966" cy="161958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分布式模型利用Spark进行情感分析，处理大规模数据集，旨在提高计算效率和扩展性。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385432" y="2334127"/>
            <a:ext cx="5133468" cy="320307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9" name="标题 1"/>
          <p:cNvSpPr txBox="1"/>
          <p:nvPr/>
        </p:nvSpPr>
        <p:spPr>
          <a:xfrm rot="10800000">
            <a:off x="7901408" y="1949116"/>
            <a:ext cx="2101516" cy="1042738"/>
          </a:xfrm>
          <a:prstGeom prst="flowChartExtra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10800000">
            <a:off x="8564195" y="1756611"/>
            <a:ext cx="775942" cy="385010"/>
          </a:xfrm>
          <a:prstGeom prst="flowChartExtra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759660" y="2292403"/>
            <a:ext cx="385012" cy="356163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93034" y="3092671"/>
            <a:ext cx="4821966" cy="6665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分布式模型定义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540548" y="3125440"/>
            <a:ext cx="4821966" cy="162626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zh-CN" altLang="en-US">
                <a:ea typeface="宋体" panose="02010600030101010101" pitchFamily="2" charset="-122"/>
              </a:rPr>
              <a:t>可以看到我在</a:t>
            </a:r>
            <a:r>
              <a:rPr kumimoji="1" lang="en-US" altLang="zh-CN">
                <a:ea typeface="宋体" panose="02010600030101010101" pitchFamily="2" charset="-122"/>
              </a:rPr>
              <a:t>GitHub</a:t>
            </a:r>
            <a:r>
              <a:rPr kumimoji="1" lang="zh-CN" altLang="en-US">
                <a:ea typeface="宋体" panose="02010600030101010101" pitchFamily="2" charset="-122"/>
              </a:rPr>
              <a:t>中</a:t>
            </a:r>
            <a:r>
              <a:rPr kumimoji="1" lang="en-US" altLang="zh-CN">
                <a:ea typeface="宋体" panose="02010600030101010101" pitchFamily="2" charset="-122"/>
              </a:rPr>
              <a:t>上传</a:t>
            </a:r>
            <a:r>
              <a:rPr kumimoji="1" lang="zh-CN" altLang="en-US">
                <a:ea typeface="宋体" panose="02010600030101010101" pitchFamily="2" charset="-122"/>
              </a:rPr>
              <a:t>了</a:t>
            </a:r>
            <a:r>
              <a:rPr kumimoji="1" lang="en-US" altLang="zh-CN">
                <a:ea typeface="宋体" panose="02010600030101010101" pitchFamily="2" charset="-122"/>
              </a:rPr>
              <a:t>两个spark相关的代码</a:t>
            </a:r>
            <a:r>
              <a:rPr kumimoji="1" lang="zh-CN" altLang="en-US">
                <a:ea typeface="宋体" panose="02010600030101010101" pitchFamily="2" charset="-122"/>
              </a:rPr>
              <a:t>，</a:t>
            </a:r>
            <a:r>
              <a:rPr kumimoji="1" lang="en-US" altLang="zh-CN">
                <a:ea typeface="宋体" panose="02010600030101010101" pitchFamily="2" charset="-122"/>
              </a:rPr>
              <a:t>为什么</a:t>
            </a:r>
            <a:r>
              <a:rPr kumimoji="1" lang="zh-CN" altLang="en-US">
                <a:ea typeface="宋体" panose="02010600030101010101" pitchFamily="2" charset="-122"/>
              </a:rPr>
              <a:t>呢？ </a:t>
            </a:r>
            <a:r>
              <a:rPr kumimoji="1" lang="en-US" altLang="zh-CN">
                <a:ea typeface="宋体" panose="02010600030101010101" pitchFamily="2" charset="-122"/>
              </a:rPr>
              <a:t>因为</a:t>
            </a:r>
            <a:r>
              <a:rPr kumimoji="1" lang="zh-CN" altLang="en-US">
                <a:ea typeface="宋体" panose="02010600030101010101" pitchFamily="2" charset="-122"/>
              </a:rPr>
              <a:t>我</a:t>
            </a:r>
            <a:r>
              <a:rPr kumimoji="1" lang="en-US" altLang="zh-CN">
                <a:ea typeface="宋体" panose="02010600030101010101" pitchFamily="2" charset="-122"/>
              </a:rPr>
              <a:t>要证明我的代码是可以运行</a:t>
            </a:r>
            <a:r>
              <a:rPr kumimoji="1" lang="zh-CN" altLang="en-US">
                <a:ea typeface="宋体" panose="02010600030101010101" pitchFamily="2" charset="-122"/>
              </a:rPr>
              <a:t>的，</a:t>
            </a:r>
            <a:r>
              <a:rPr kumimoji="1" lang="en-US" altLang="zh-CN">
                <a:ea typeface="宋体" panose="02010600030101010101" pitchFamily="2" charset="-122"/>
              </a:rPr>
              <a:t>两个代码都是一样</a:t>
            </a:r>
            <a:r>
              <a:rPr kumimoji="1" lang="zh-CN" altLang="en-US">
                <a:ea typeface="宋体" panose="02010600030101010101" pitchFamily="2" charset="-122"/>
              </a:rPr>
              <a:t>的，</a:t>
            </a:r>
            <a:r>
              <a:rPr kumimoji="1" lang="en-US" altLang="zh-CN">
                <a:ea typeface="宋体" panose="02010600030101010101" pitchFamily="2" charset="-122"/>
              </a:rPr>
              <a:t>但是由于</a:t>
            </a:r>
            <a:r>
              <a:rPr kumimoji="1" lang="zh-CN" altLang="en-US">
                <a:ea typeface="宋体" panose="02010600030101010101" pitchFamily="2" charset="-122"/>
              </a:rPr>
              <a:t>会</a:t>
            </a:r>
            <a:r>
              <a:rPr kumimoji="1" lang="en-US" altLang="zh-CN">
                <a:ea typeface="宋体" panose="02010600030101010101" pitchFamily="2" charset="-122"/>
              </a:rPr>
              <a:t>爆内存</a:t>
            </a:r>
            <a:r>
              <a:rPr kumimoji="1" lang="zh-CN" altLang="en-US">
                <a:ea typeface="宋体" panose="02010600030101010101" pitchFamily="2" charset="-122"/>
              </a:rPr>
              <a:t>和</a:t>
            </a:r>
            <a:r>
              <a:rPr kumimoji="1" lang="en-US" altLang="zh-CN">
                <a:ea typeface="宋体" panose="02010600030101010101" pitchFamily="2" charset="-122"/>
              </a:rPr>
              <a:t>spark中断等问题</a:t>
            </a:r>
            <a:r>
              <a:rPr kumimoji="1" lang="zh-CN" altLang="en-US">
                <a:ea typeface="宋体" panose="02010600030101010101" pitchFamily="2" charset="-122"/>
              </a:rPr>
              <a:t>，</a:t>
            </a:r>
            <a:r>
              <a:rPr kumimoji="1" lang="en-US" altLang="zh-CN">
                <a:ea typeface="宋体" panose="02010600030101010101" pitchFamily="2" charset="-122"/>
              </a:rPr>
              <a:t>代码并不能总是运行出结果</a:t>
            </a:r>
            <a:r>
              <a:rPr kumimoji="1" lang="zh-CN" altLang="en-US">
                <a:ea typeface="宋体" panose="02010600030101010101" pitchFamily="2" charset="-122"/>
              </a:rPr>
              <a:t>。我</a:t>
            </a:r>
            <a:r>
              <a:rPr kumimoji="1" lang="en-US" altLang="zh-CN">
                <a:ea typeface="宋体" panose="02010600030101010101" pitchFamily="2" charset="-122"/>
              </a:rPr>
              <a:t>只能拿原来跑出</a:t>
            </a:r>
            <a:r>
              <a:rPr kumimoji="1" lang="zh-CN" altLang="en-US">
                <a:ea typeface="宋体" panose="02010600030101010101" pitchFamily="2" charset="-122"/>
              </a:rPr>
              <a:t>的</a:t>
            </a:r>
            <a:r>
              <a:rPr kumimoji="1" lang="en-US" altLang="zh-CN">
                <a:ea typeface="宋体" panose="02010600030101010101" pitchFamily="2" charset="-122"/>
              </a:rPr>
              <a:t>代码运行过的cell来证明已经完成</a:t>
            </a:r>
            <a:r>
              <a:rPr kumimoji="1" lang="zh-CN" altLang="en-US">
                <a:ea typeface="宋体" panose="02010600030101010101" pitchFamily="2" charset="-122"/>
              </a:rPr>
              <a:t>了。有</a:t>
            </a:r>
            <a:r>
              <a:rPr kumimoji="1" lang="en-US" altLang="zh-CN">
                <a:ea typeface="宋体" panose="02010600030101010101" pitchFamily="2" charset="-122"/>
              </a:rPr>
              <a:t>不是很好的解决方法</a:t>
            </a:r>
            <a:r>
              <a:rPr kumimoji="1" lang="zh-CN" altLang="en-US">
                <a:ea typeface="宋体" panose="02010600030101010101" pitchFamily="2" charset="-122"/>
              </a:rPr>
              <a:t>，将</a:t>
            </a:r>
            <a:r>
              <a:rPr kumimoji="1" lang="en-US" altLang="zh-CN">
                <a:ea typeface="宋体" panose="02010600030101010101" pitchFamily="2" charset="-122"/>
              </a:rPr>
              <a:t>rdd对象</a:t>
            </a:r>
            <a:r>
              <a:rPr kumimoji="1" lang="zh-CN" altLang="en-US">
                <a:ea typeface="宋体" panose="02010600030101010101" pitchFamily="2" charset="-122"/>
              </a:rPr>
              <a:t>先</a:t>
            </a:r>
            <a:r>
              <a:rPr kumimoji="1" lang="en-US" altLang="zh-CN">
                <a:ea typeface="宋体" panose="02010600030101010101" pitchFamily="2" charset="-122"/>
              </a:rPr>
              <a:t>换成list</a:t>
            </a:r>
            <a:r>
              <a:rPr kumimoji="1" lang="zh-CN" altLang="en-US">
                <a:ea typeface="宋体" panose="02010600030101010101" pitchFamily="2" charset="-122"/>
              </a:rPr>
              <a:t>，</a:t>
            </a:r>
            <a:r>
              <a:rPr kumimoji="1" lang="en-US" altLang="zh-CN">
                <a:ea typeface="宋体" panose="02010600030101010101" pitchFamily="2" charset="-122"/>
              </a:rPr>
              <a:t>这样的效率实在是低</a:t>
            </a:r>
            <a:r>
              <a:rPr kumimoji="1" lang="zh-CN" altLang="en-US">
                <a:ea typeface="宋体" panose="02010600030101010101" pitchFamily="2" charset="-122"/>
              </a:rPr>
              <a:t>，也</a:t>
            </a:r>
            <a:r>
              <a:rPr kumimoji="1" lang="en-US" altLang="zh-CN">
                <a:ea typeface="宋体" panose="02010600030101010101" pitchFamily="2" charset="-122"/>
              </a:rPr>
              <a:t>脱离了分布式训练</a:t>
            </a:r>
            <a:r>
              <a:rPr kumimoji="1" lang="zh-CN" altLang="en-US">
                <a:ea typeface="宋体" panose="02010600030101010101" pitchFamily="2" charset="-122"/>
              </a:rPr>
              <a:t>的</a:t>
            </a:r>
            <a:r>
              <a:rPr kumimoji="1" lang="en-US" altLang="zh-CN">
                <a:ea typeface="宋体" panose="02010600030101010101" pitchFamily="2" charset="-122"/>
              </a:rPr>
              <a:t>初衷</a:t>
            </a:r>
            <a:r>
              <a:rPr kumimoji="1" lang="zh-CN" altLang="en-US">
                <a:ea typeface="宋体" panose="02010600030101010101" pitchFamily="2" charset="-122"/>
              </a:rPr>
              <a:t>，</a:t>
            </a:r>
            <a:r>
              <a:rPr kumimoji="1" lang="en-US" altLang="zh-CN">
                <a:ea typeface="宋体" panose="02010600030101010101" pitchFamily="2" charset="-122"/>
              </a:rPr>
              <a:t>并且</a:t>
            </a:r>
            <a:r>
              <a:rPr kumimoji="1" lang="zh-CN" altLang="en-US">
                <a:ea typeface="宋体" panose="02010600030101010101" pitchFamily="2" charset="-122"/>
              </a:rPr>
              <a:t>我</a:t>
            </a:r>
            <a:r>
              <a:rPr kumimoji="1" lang="en-US" altLang="zh-CN">
                <a:ea typeface="宋体" panose="02010600030101010101" pitchFamily="2" charset="-122"/>
              </a:rPr>
              <a:t>在本地就是用的list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6540548" y="2424016"/>
            <a:ext cx="4821966" cy="6685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zh-CN" altLang="en-US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分布式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模型问题</a:t>
            </a:r>
            <a:endParaRPr kumimoji="1" lang="en-US" altLang="zh-CN" sz="2800" b="1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1007545" y="210957"/>
            <a:ext cx="10696755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分布式模型介绍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82743" y="334905"/>
            <a:ext cx="218940" cy="218940"/>
          </a:xfrm>
          <a:prstGeom prst="chevr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87699" y="334905"/>
            <a:ext cx="218940" cy="21894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292654" y="334905"/>
            <a:ext cx="218940" cy="21894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4761" y="0"/>
            <a:ext cx="12196761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377553" y="2071930"/>
            <a:ext cx="9781782" cy="1718558"/>
          </a:xfrm>
          <a:prstGeom prst="roundRect">
            <a:avLst>
              <a:gd name="adj" fmla="val 3785"/>
            </a:avLst>
          </a:prstGeom>
          <a:solidFill>
            <a:schemeClr val="bg1">
              <a:lumMod val="95000"/>
            </a:schemeClr>
          </a:solidFill>
          <a:ln cap="sq">
            <a:noFill/>
            <a:prstDash val="solid"/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377553" y="2037827"/>
            <a:ext cx="1933378" cy="1718558"/>
          </a:xfrm>
          <a:prstGeom prst="roundRect">
            <a:avLst>
              <a:gd name="adj" fmla="val 3785"/>
            </a:avLst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6200000" scaled="0"/>
          </a:gradFill>
          <a:ln cap="sq">
            <a:noFill/>
            <a:prstDash val="solid"/>
            <a:miter/>
          </a:ln>
          <a:effectLst>
            <a:outerShdw blurRad="88900" dist="76200" algn="l" rotWithShape="0">
              <a:schemeClr val="accent3">
                <a:lumMod val="50000"/>
                <a:alpha val="14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000530" y="2191757"/>
            <a:ext cx="687423" cy="687423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6200000" scaled="0"/>
          </a:gradFill>
          <a:ln cap="flat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484963" y="2987382"/>
            <a:ext cx="1718558" cy="7733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本地模型定义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740570" y="2066590"/>
            <a:ext cx="6989310" cy="17120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本地模型在单机上运行，适用于中小型数据集，简化了部署和调试过程，提高了模型的稳定性。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377553" y="4170772"/>
            <a:ext cx="9781782" cy="1718558"/>
          </a:xfrm>
          <a:prstGeom prst="roundRect">
            <a:avLst>
              <a:gd name="adj" fmla="val 3785"/>
            </a:avLst>
          </a:prstGeom>
          <a:solidFill>
            <a:schemeClr val="bg1">
              <a:lumMod val="95000"/>
            </a:schemeClr>
          </a:solidFill>
          <a:ln cap="sq">
            <a:noFill/>
            <a:prstDash val="solid"/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377553" y="4139239"/>
            <a:ext cx="1933378" cy="1718558"/>
          </a:xfrm>
          <a:prstGeom prst="roundRect">
            <a:avLst>
              <a:gd name="adj" fmla="val 3785"/>
            </a:avLst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6200000" scaled="0"/>
          </a:gradFill>
          <a:ln cap="sq">
            <a:noFill/>
            <a:prstDash val="solid"/>
            <a:miter/>
          </a:ln>
          <a:effectLst>
            <a:outerShdw blurRad="88900" dist="76200" algn="l" rotWithShape="0">
              <a:schemeClr val="accent2">
                <a:lumMod val="50000"/>
                <a:alpha val="14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484963" y="5096546"/>
            <a:ext cx="1718558" cy="7733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本地模型优势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740570" y="4179244"/>
            <a:ext cx="6989310" cy="17120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本地模型避免了分布式模型的内存问题，运行更加稳定，便于快速迭代和优化。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000530" y="4295549"/>
            <a:ext cx="687423" cy="687423"/>
          </a:xfrm>
          <a:custGeom>
            <a:avLst/>
            <a:gdLst>
              <a:gd name="connsiteX0" fmla="*/ 579031 w 719895"/>
              <a:gd name="connsiteY0" fmla="*/ 554022 h 720000"/>
              <a:gd name="connsiteX1" fmla="*/ 596778 w 719895"/>
              <a:gd name="connsiteY1" fmla="*/ 561368 h 720000"/>
              <a:gd name="connsiteX2" fmla="*/ 712550 w 719895"/>
              <a:gd name="connsiteY2" fmla="*/ 677140 h 720000"/>
              <a:gd name="connsiteX3" fmla="*/ 712550 w 719895"/>
              <a:gd name="connsiteY3" fmla="*/ 712634 h 720000"/>
              <a:gd name="connsiteX4" fmla="*/ 694887 w 719895"/>
              <a:gd name="connsiteY4" fmla="*/ 720000 h 720000"/>
              <a:gd name="connsiteX5" fmla="*/ 677140 w 719895"/>
              <a:gd name="connsiteY5" fmla="*/ 712634 h 720000"/>
              <a:gd name="connsiteX6" fmla="*/ 561284 w 719895"/>
              <a:gd name="connsiteY6" fmla="*/ 596861 h 720000"/>
              <a:gd name="connsiteX7" fmla="*/ 561284 w 719895"/>
              <a:gd name="connsiteY7" fmla="*/ 561368 h 720000"/>
              <a:gd name="connsiteX8" fmla="*/ 579031 w 719895"/>
              <a:gd name="connsiteY8" fmla="*/ 554022 h 720000"/>
              <a:gd name="connsiteX9" fmla="*/ 301109 w 719895"/>
              <a:gd name="connsiteY9" fmla="*/ 0 h 720000"/>
              <a:gd name="connsiteX10" fmla="*/ 602219 w 719895"/>
              <a:gd name="connsiteY10" fmla="*/ 301109 h 720000"/>
              <a:gd name="connsiteX11" fmla="*/ 301109 w 719895"/>
              <a:gd name="connsiteY11" fmla="*/ 602219 h 720000"/>
              <a:gd name="connsiteX12" fmla="*/ 0 w 719895"/>
              <a:gd name="connsiteY12" fmla="*/ 301109 h 720000"/>
              <a:gd name="connsiteX13" fmla="*/ 301109 w 719895"/>
              <a:gd name="connsiteY13" fmla="*/ 0 h 720000"/>
            </a:gdLst>
            <a:ahLst/>
            <a:cxnLst/>
            <a:rect l="l" t="t" r="r" b="b"/>
            <a:pathLst>
              <a:path w="719895" h="720000">
                <a:moveTo>
                  <a:pt x="579031" y="554022"/>
                </a:moveTo>
                <a:cubicBezTo>
                  <a:pt x="585456" y="554022"/>
                  <a:pt x="591880" y="556471"/>
                  <a:pt x="596778" y="561368"/>
                </a:cubicBezTo>
                <a:lnTo>
                  <a:pt x="712550" y="677140"/>
                </a:lnTo>
                <a:cubicBezTo>
                  <a:pt x="722344" y="686935"/>
                  <a:pt x="722344" y="702840"/>
                  <a:pt x="712550" y="712634"/>
                </a:cubicBezTo>
                <a:cubicBezTo>
                  <a:pt x="707778" y="717573"/>
                  <a:pt x="701333" y="720000"/>
                  <a:pt x="694887" y="720000"/>
                </a:cubicBezTo>
                <a:cubicBezTo>
                  <a:pt x="688441" y="720000"/>
                  <a:pt x="681995" y="717573"/>
                  <a:pt x="677140" y="712634"/>
                </a:cubicBezTo>
                <a:lnTo>
                  <a:pt x="561284" y="596861"/>
                </a:lnTo>
                <a:cubicBezTo>
                  <a:pt x="551490" y="587067"/>
                  <a:pt x="551490" y="571162"/>
                  <a:pt x="561284" y="561368"/>
                </a:cubicBezTo>
                <a:cubicBezTo>
                  <a:pt x="566181" y="556471"/>
                  <a:pt x="572606" y="554022"/>
                  <a:pt x="579031" y="554022"/>
                </a:cubicBezTo>
                <a:close/>
                <a:moveTo>
                  <a:pt x="301109" y="0"/>
                </a:moveTo>
                <a:cubicBezTo>
                  <a:pt x="467443" y="0"/>
                  <a:pt x="602219" y="134859"/>
                  <a:pt x="602219" y="301109"/>
                </a:cubicBezTo>
                <a:cubicBezTo>
                  <a:pt x="602219" y="467443"/>
                  <a:pt x="467443" y="602219"/>
                  <a:pt x="301109" y="602219"/>
                </a:cubicBezTo>
                <a:cubicBezTo>
                  <a:pt x="134775" y="602219"/>
                  <a:pt x="0" y="467443"/>
                  <a:pt x="0" y="301109"/>
                </a:cubicBezTo>
                <a:cubicBezTo>
                  <a:pt x="0" y="134775"/>
                  <a:pt x="134775" y="0"/>
                  <a:pt x="301109" y="0"/>
                </a:cubicBezTo>
                <a:close/>
              </a:path>
            </a:pathLst>
          </a:custGeom>
          <a:gradFill>
            <a:gsLst>
              <a:gs pos="1000">
                <a:schemeClr val="bg1">
                  <a:alpha val="0"/>
                </a:schemeClr>
              </a:gs>
              <a:gs pos="100000">
                <a:schemeClr val="bg1"/>
              </a:gs>
            </a:gsLst>
            <a:lin ang="16200000" scaled="0"/>
          </a:gradFill>
          <a:ln cap="flat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007545" y="210957"/>
            <a:ext cx="10696755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本地模型介绍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82743" y="334905"/>
            <a:ext cx="218940" cy="218940"/>
          </a:xfrm>
          <a:prstGeom prst="chevr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87699" y="334905"/>
            <a:ext cx="218940" cy="21894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292654" y="334905"/>
            <a:ext cx="218940" cy="21894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blipFill>
            <a:blip r:embed="rId1"/>
            <a:srcRect/>
            <a:stretch>
              <a:fillRect l="-164" r="-164"/>
            </a:stretch>
          </a:blip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bg1">
              <a:alpha val="92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4" name="标题 1"/>
          <p:cNvSpPr txBox="1"/>
          <p:nvPr/>
        </p:nvSpPr>
        <p:spPr>
          <a:xfrm rot="3172644">
            <a:off x="1879916" y="1518209"/>
            <a:ext cx="672025" cy="672025"/>
          </a:xfrm>
          <a:prstGeom prst="ellipse">
            <a:avLst/>
          </a:prstGeom>
          <a:gradFill>
            <a:gsLst>
              <a:gs pos="9000">
                <a:schemeClr val="accent4">
                  <a:lumMod val="40000"/>
                  <a:lumOff val="60000"/>
                  <a:alpha val="80000"/>
                </a:schemeClr>
              </a:gs>
              <a:gs pos="100000">
                <a:schemeClr val="bg1">
                  <a:alpha val="7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1" y="4800602"/>
            <a:ext cx="5844209" cy="2064024"/>
          </a:xfrm>
          <a:custGeom>
            <a:avLst/>
            <a:gdLst>
              <a:gd name="connsiteX0" fmla="*/ 0 w 3095538"/>
              <a:gd name="connsiteY0" fmla="*/ 181103 h 1093264"/>
              <a:gd name="connsiteX1" fmla="*/ 1761689 w 3095538"/>
              <a:gd name="connsiteY1" fmla="*/ 546023 h 1093264"/>
              <a:gd name="connsiteX2" fmla="*/ 3095538 w 3095538"/>
              <a:gd name="connsiteY2" fmla="*/ 1093264 h 1093264"/>
              <a:gd name="connsiteX3" fmla="*/ 0 w 3095538"/>
              <a:gd name="connsiteY3" fmla="*/ 1093264 h 1093264"/>
              <a:gd name="connsiteX4" fmla="*/ 0 w 3095538"/>
              <a:gd name="connsiteY4" fmla="*/ 181103 h 1093264"/>
              <a:gd name="connsiteX5" fmla="*/ 0 w 3095538"/>
              <a:gd name="connsiteY5" fmla="*/ 184030 h 1096191"/>
            </a:gdLst>
            <a:ahLst/>
            <a:cxnLst/>
            <a:rect l="l" t="t" r="r" b="b"/>
            <a:pathLst>
              <a:path w="3095538" h="1093264">
                <a:moveTo>
                  <a:pt x="0" y="181103"/>
                </a:moveTo>
                <a:cubicBezTo>
                  <a:pt x="664128" y="-313847"/>
                  <a:pt x="1395369" y="340493"/>
                  <a:pt x="1761689" y="546023"/>
                </a:cubicBezTo>
                <a:cubicBezTo>
                  <a:pt x="2270621" y="847281"/>
                  <a:pt x="2599190" y="1043676"/>
                  <a:pt x="3095538" y="1093264"/>
                </a:cubicBezTo>
                <a:lnTo>
                  <a:pt x="0" y="1093264"/>
                </a:lnTo>
                <a:lnTo>
                  <a:pt x="0" y="18110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83000"/>
                </a:schemeClr>
              </a:gs>
              <a:gs pos="92000">
                <a:schemeClr val="accent2">
                  <a:alpha val="7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3760697"/>
            <a:ext cx="1826546" cy="3103929"/>
          </a:xfrm>
          <a:custGeom>
            <a:avLst/>
            <a:gdLst>
              <a:gd name="connsiteX0" fmla="*/ 0 w 1098373"/>
              <a:gd name="connsiteY0" fmla="*/ 411206 h 1732006"/>
              <a:gd name="connsiteX1" fmla="*/ 996333 w 1098373"/>
              <a:gd name="connsiteY1" fmla="*/ 79840 h 1732006"/>
              <a:gd name="connsiteX2" fmla="*/ 903120 w 1098373"/>
              <a:gd name="connsiteY2" fmla="*/ 740149 h 1732006"/>
              <a:gd name="connsiteX3" fmla="*/ 975360 w 1098373"/>
              <a:gd name="connsiteY3" fmla="*/ 1732006 h 1732006"/>
              <a:gd name="connsiteX4" fmla="*/ 0 w 1098373"/>
              <a:gd name="connsiteY4" fmla="*/ 1732006 h 1732006"/>
              <a:gd name="connsiteX5" fmla="*/ 0 w 1098373"/>
              <a:gd name="connsiteY5" fmla="*/ 411206 h 1732006"/>
            </a:gdLst>
            <a:ahLst/>
            <a:cxnLst/>
            <a:rect l="l" t="t" r="r" b="b"/>
            <a:pathLst>
              <a:path w="1098373" h="1732006">
                <a:moveTo>
                  <a:pt x="0" y="411206"/>
                </a:moveTo>
                <a:cubicBezTo>
                  <a:pt x="374056" y="-51587"/>
                  <a:pt x="832002" y="-61375"/>
                  <a:pt x="996333" y="79840"/>
                </a:cubicBezTo>
                <a:cubicBezTo>
                  <a:pt x="1185303" y="262595"/>
                  <a:pt x="1086978" y="569651"/>
                  <a:pt x="903120" y="740149"/>
                </a:cubicBezTo>
                <a:cubicBezTo>
                  <a:pt x="446620" y="1149733"/>
                  <a:pt x="426099" y="1564600"/>
                  <a:pt x="975360" y="1732006"/>
                </a:cubicBezTo>
                <a:lnTo>
                  <a:pt x="0" y="1732006"/>
                </a:lnTo>
                <a:lnTo>
                  <a:pt x="0" y="41120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9000"/>
                </a:schemeClr>
              </a:gs>
              <a:gs pos="100000">
                <a:schemeClr val="accent2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408950" y="-6626"/>
            <a:ext cx="4783050" cy="1477215"/>
          </a:xfrm>
          <a:custGeom>
            <a:avLst/>
            <a:gdLst>
              <a:gd name="connsiteX0" fmla="*/ 462410 w 2811328"/>
              <a:gd name="connsiteY0" fmla="*/ 0 h 868261"/>
              <a:gd name="connsiteX1" fmla="*/ 2811328 w 2811328"/>
              <a:gd name="connsiteY1" fmla="*/ 0 h 868261"/>
              <a:gd name="connsiteX2" fmla="*/ 2811328 w 2811328"/>
              <a:gd name="connsiteY2" fmla="*/ 868261 h 868261"/>
              <a:gd name="connsiteX3" fmla="*/ 982529 w 2811328"/>
              <a:gd name="connsiteY3" fmla="*/ 683703 h 868261"/>
              <a:gd name="connsiteX4" fmla="*/ 5210 w 2811328"/>
              <a:gd name="connsiteY4" fmla="*/ 654342 h 868261"/>
              <a:gd name="connsiteX5" fmla="*/ 462410 w 2811328"/>
              <a:gd name="connsiteY5" fmla="*/ 0 h 868261"/>
            </a:gdLst>
            <a:ahLst/>
            <a:cxnLst/>
            <a:rect l="l" t="t" r="r" b="b"/>
            <a:pathLst>
              <a:path w="2811328" h="868261">
                <a:moveTo>
                  <a:pt x="462410" y="0"/>
                </a:moveTo>
                <a:lnTo>
                  <a:pt x="2811328" y="0"/>
                </a:lnTo>
                <a:lnTo>
                  <a:pt x="2811328" y="868261"/>
                </a:lnTo>
                <a:cubicBezTo>
                  <a:pt x="2345739" y="308995"/>
                  <a:pt x="1153804" y="650846"/>
                  <a:pt x="982529" y="683703"/>
                </a:cubicBezTo>
                <a:cubicBezTo>
                  <a:pt x="404388" y="854978"/>
                  <a:pt x="58280" y="883459"/>
                  <a:pt x="5210" y="654342"/>
                </a:cubicBezTo>
                <a:cubicBezTo>
                  <a:pt x="-46523" y="236290"/>
                  <a:pt x="300222" y="78298"/>
                  <a:pt x="4624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alpha val="8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0193345" y="-6625"/>
            <a:ext cx="1998655" cy="3533484"/>
          </a:xfrm>
          <a:custGeom>
            <a:avLst/>
            <a:gdLst>
              <a:gd name="connsiteX0" fmla="*/ 155567 w 1095134"/>
              <a:gd name="connsiteY0" fmla="*/ 0 h 1738370"/>
              <a:gd name="connsiteX1" fmla="*/ 1095134 w 1095134"/>
              <a:gd name="connsiteY1" fmla="*/ 0 h 1738370"/>
              <a:gd name="connsiteX2" fmla="*/ 1095134 w 1095134"/>
              <a:gd name="connsiteY2" fmla="*/ 1342239 h 1738370"/>
              <a:gd name="connsiteX3" fmla="*/ 109427 w 1095134"/>
              <a:gd name="connsiteY3" fmla="*/ 1665214 h 1738370"/>
              <a:gd name="connsiteX4" fmla="*/ 541465 w 1095134"/>
              <a:gd name="connsiteY4" fmla="*/ 503339 h 1738370"/>
              <a:gd name="connsiteX5" fmla="*/ 155567 w 1095134"/>
              <a:gd name="connsiteY5" fmla="*/ 0 h 1738370"/>
            </a:gdLst>
            <a:ahLst/>
            <a:cxnLst/>
            <a:rect l="l" t="t" r="r" b="b"/>
            <a:pathLst>
              <a:path w="1095134" h="1738369">
                <a:moveTo>
                  <a:pt x="155567" y="0"/>
                </a:moveTo>
                <a:lnTo>
                  <a:pt x="1095134" y="0"/>
                </a:lnTo>
                <a:lnTo>
                  <a:pt x="1095134" y="1342239"/>
                </a:lnTo>
                <a:cubicBezTo>
                  <a:pt x="556841" y="1856764"/>
                  <a:pt x="203105" y="1754697"/>
                  <a:pt x="109427" y="1665214"/>
                </a:cubicBezTo>
                <a:cubicBezTo>
                  <a:pt x="-278562" y="1249260"/>
                  <a:pt x="485538" y="824916"/>
                  <a:pt x="541465" y="503339"/>
                </a:cubicBezTo>
                <a:cubicBezTo>
                  <a:pt x="572225" y="257262"/>
                  <a:pt x="363196" y="109756"/>
                  <a:pt x="155567" y="0"/>
                </a:cubicBezTo>
                <a:close/>
              </a:path>
            </a:pathLst>
          </a:custGeom>
          <a:gradFill>
            <a:gsLst>
              <a:gs pos="13000">
                <a:schemeClr val="accent1">
                  <a:alpha val="70000"/>
                </a:schemeClr>
              </a:gs>
              <a:gs pos="56000">
                <a:schemeClr val="accent1">
                  <a:alpha val="4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1120086" y="1610229"/>
            <a:ext cx="1071914" cy="4410721"/>
          </a:xfrm>
          <a:custGeom>
            <a:avLst/>
            <a:gdLst>
              <a:gd name="connsiteX0" fmla="*/ 2562 w 470947"/>
              <a:gd name="connsiteY0" fmla="*/ 541090 h 1937857"/>
              <a:gd name="connsiteX1" fmla="*/ 470947 w 470947"/>
              <a:gd name="connsiteY1" fmla="*/ 0 h 1937857"/>
              <a:gd name="connsiteX2" fmla="*/ 470947 w 470947"/>
              <a:gd name="connsiteY2" fmla="*/ 1937857 h 1937857"/>
              <a:gd name="connsiteX3" fmla="*/ 2562 w 470947"/>
              <a:gd name="connsiteY3" fmla="*/ 541090 h 1937857"/>
              <a:gd name="connsiteX4" fmla="*/ 2562 w 470947"/>
              <a:gd name="connsiteY4" fmla="*/ 541090 h 1937857"/>
            </a:gdLst>
            <a:ahLst/>
            <a:cxnLst/>
            <a:rect l="l" t="t" r="r" b="b"/>
            <a:pathLst>
              <a:path w="470947" h="1937857">
                <a:moveTo>
                  <a:pt x="2562" y="541090"/>
                </a:moveTo>
                <a:cubicBezTo>
                  <a:pt x="-34257" y="142614"/>
                  <a:pt x="335792" y="33555"/>
                  <a:pt x="470947" y="0"/>
                </a:cubicBezTo>
                <a:lnTo>
                  <a:pt x="470947" y="1937857"/>
                </a:lnTo>
                <a:cubicBezTo>
                  <a:pt x="453237" y="1279321"/>
                  <a:pt x="74800" y="985706"/>
                  <a:pt x="2562" y="54109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85000">
                <a:schemeClr val="accent2"/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51176" y="3262121"/>
            <a:ext cx="971224" cy="971224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1000">
                <a:schemeClr val="accent1">
                  <a:alpha val="22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285431" y="201326"/>
            <a:ext cx="596569" cy="596569"/>
          </a:xfrm>
          <a:prstGeom prst="ellipse">
            <a:avLst/>
          </a:prstGeom>
          <a:gradFill>
            <a:gsLst>
              <a:gs pos="0">
                <a:schemeClr val="accent2"/>
              </a:gs>
              <a:gs pos="81000">
                <a:schemeClr val="accent1">
                  <a:alpha val="47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172120" y="5862182"/>
            <a:ext cx="386558" cy="386558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  <a:alpha val="13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1369984" y="4043547"/>
            <a:ext cx="596569" cy="59656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  <a:alpha val="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0029423" y="1084105"/>
            <a:ext cx="307272" cy="307272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  <a:alpha val="1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728224" y="6279365"/>
            <a:ext cx="1008113" cy="338628"/>
          </a:xfrm>
          <a:custGeom>
            <a:avLst/>
            <a:gdLst>
              <a:gd name="connsiteX0" fmla="*/ 415276 w 3541187"/>
              <a:gd name="connsiteY0" fmla="*/ 0 h 415276"/>
              <a:gd name="connsiteX1" fmla="*/ 0 w 3541187"/>
              <a:gd name="connsiteY1" fmla="*/ 0 h 415276"/>
              <a:gd name="connsiteX2" fmla="*/ 0 w 3541187"/>
              <a:gd name="connsiteY2" fmla="*/ 415276 h 415276"/>
              <a:gd name="connsiteX3" fmla="*/ 415276 w 3541187"/>
              <a:gd name="connsiteY3" fmla="*/ 415276 h 415276"/>
              <a:gd name="connsiteX4" fmla="*/ 1184675 w 3541187"/>
              <a:gd name="connsiteY4" fmla="*/ 0 h 415276"/>
              <a:gd name="connsiteX5" fmla="*/ 769399 w 3541187"/>
              <a:gd name="connsiteY5" fmla="*/ 0 h 415276"/>
              <a:gd name="connsiteX6" fmla="*/ 769399 w 3541187"/>
              <a:gd name="connsiteY6" fmla="*/ 415276 h 415276"/>
              <a:gd name="connsiteX7" fmla="*/ 1184675 w 3541187"/>
              <a:gd name="connsiteY7" fmla="*/ 415276 h 415276"/>
              <a:gd name="connsiteX8" fmla="*/ 1954074 w 3541187"/>
              <a:gd name="connsiteY8" fmla="*/ 0 h 415276"/>
              <a:gd name="connsiteX9" fmla="*/ 1538798 w 3541187"/>
              <a:gd name="connsiteY9" fmla="*/ 0 h 415276"/>
              <a:gd name="connsiteX10" fmla="*/ 1538798 w 3541187"/>
              <a:gd name="connsiteY10" fmla="*/ 415276 h 415276"/>
              <a:gd name="connsiteX11" fmla="*/ 1954074 w 3541187"/>
              <a:gd name="connsiteY11" fmla="*/ 415276 h 415276"/>
              <a:gd name="connsiteX12" fmla="*/ 2771788 w 3541187"/>
              <a:gd name="connsiteY12" fmla="*/ 0 h 415276"/>
              <a:gd name="connsiteX13" fmla="*/ 2356512 w 3541187"/>
              <a:gd name="connsiteY13" fmla="*/ 0 h 415276"/>
              <a:gd name="connsiteX14" fmla="*/ 2356512 w 3541187"/>
              <a:gd name="connsiteY14" fmla="*/ 415276 h 415276"/>
              <a:gd name="connsiteX15" fmla="*/ 2771788 w 3541187"/>
              <a:gd name="connsiteY15" fmla="*/ 415276 h 415276"/>
              <a:gd name="connsiteX16" fmla="*/ 3541187 w 3541187"/>
              <a:gd name="connsiteY16" fmla="*/ 0 h 415276"/>
              <a:gd name="connsiteX17" fmla="*/ 3125911 w 3541187"/>
              <a:gd name="connsiteY17" fmla="*/ 0 h 415276"/>
              <a:gd name="connsiteX18" fmla="*/ 3125911 w 3541187"/>
              <a:gd name="connsiteY18" fmla="*/ 415276 h 415276"/>
              <a:gd name="connsiteX19" fmla="*/ 3541187 w 3541187"/>
              <a:gd name="connsiteY19" fmla="*/ 415276 h 415276"/>
            </a:gdLst>
            <a:ahLst/>
            <a:cxnLst/>
            <a:rect l="l" t="t" r="r" b="b"/>
            <a:pathLst>
              <a:path w="3541187" h="415276">
                <a:moveTo>
                  <a:pt x="415276" y="0"/>
                </a:moveTo>
                <a:lnTo>
                  <a:pt x="0" y="0"/>
                </a:lnTo>
                <a:lnTo>
                  <a:pt x="0" y="415276"/>
                </a:lnTo>
                <a:lnTo>
                  <a:pt x="415276" y="415276"/>
                </a:lnTo>
                <a:close/>
                <a:moveTo>
                  <a:pt x="1184675" y="0"/>
                </a:moveTo>
                <a:lnTo>
                  <a:pt x="769399" y="0"/>
                </a:lnTo>
                <a:lnTo>
                  <a:pt x="769399" y="415276"/>
                </a:lnTo>
                <a:lnTo>
                  <a:pt x="1184675" y="415276"/>
                </a:lnTo>
                <a:close/>
                <a:moveTo>
                  <a:pt x="1954074" y="0"/>
                </a:moveTo>
                <a:lnTo>
                  <a:pt x="1538798" y="0"/>
                </a:lnTo>
                <a:lnTo>
                  <a:pt x="1538798" y="415276"/>
                </a:lnTo>
                <a:lnTo>
                  <a:pt x="1954074" y="415276"/>
                </a:lnTo>
                <a:close/>
                <a:moveTo>
                  <a:pt x="2771788" y="0"/>
                </a:moveTo>
                <a:lnTo>
                  <a:pt x="2356512" y="0"/>
                </a:lnTo>
                <a:lnTo>
                  <a:pt x="2356512" y="415276"/>
                </a:lnTo>
                <a:lnTo>
                  <a:pt x="2771788" y="415276"/>
                </a:lnTo>
                <a:close/>
                <a:moveTo>
                  <a:pt x="3541187" y="0"/>
                </a:moveTo>
                <a:lnTo>
                  <a:pt x="3125911" y="0"/>
                </a:lnTo>
                <a:lnTo>
                  <a:pt x="3125911" y="415276"/>
                </a:lnTo>
                <a:lnTo>
                  <a:pt x="3541187" y="41527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7" name="标题 1"/>
          <p:cNvCxnSpPr/>
          <p:nvPr/>
        </p:nvCxnSpPr>
        <p:spPr>
          <a:xfrm flipH="1" flipV="1">
            <a:off x="6297525" y="6445403"/>
            <a:ext cx="4104189" cy="6553"/>
          </a:xfrm>
          <a:prstGeom prst="line">
            <a:avLst/>
          </a:prstGeom>
          <a:noFill/>
          <a:ln w="19050" cap="sq">
            <a:solidFill>
              <a:schemeClr val="accent1">
                <a:lumMod val="60000"/>
                <a:lumOff val="40000"/>
              </a:schemeClr>
            </a:solidFill>
            <a:prstDash val="solid"/>
            <a:miter/>
            <a:headEnd type="oval" w="lg" len="lg"/>
            <a:tailEnd type="oval" w="lg" len="lg"/>
          </a:ln>
        </p:spPr>
      </p:cxnSp>
      <p:sp>
        <p:nvSpPr>
          <p:cNvPr id="18" name="标题 1"/>
          <p:cNvSpPr txBox="1"/>
          <p:nvPr/>
        </p:nvSpPr>
        <p:spPr>
          <a:xfrm flipV="1">
            <a:off x="3072680" y="589809"/>
            <a:ext cx="3636286" cy="53470"/>
          </a:xfrm>
          <a:custGeom>
            <a:avLst/>
            <a:gdLst>
              <a:gd name="connsiteX0" fmla="*/ 0 w 3636286"/>
              <a:gd name="connsiteY0" fmla="*/ 94727 h 94727"/>
              <a:gd name="connsiteX1" fmla="*/ 3419713 w 3636286"/>
              <a:gd name="connsiteY1" fmla="*/ 94727 h 94727"/>
              <a:gd name="connsiteX2" fmla="*/ 3528000 w 3636286"/>
              <a:gd name="connsiteY2" fmla="*/ 94727 h 94727"/>
              <a:gd name="connsiteX3" fmla="*/ 3636286 w 3636286"/>
              <a:gd name="connsiteY3" fmla="*/ 94727 h 94727"/>
              <a:gd name="connsiteX4" fmla="*/ 3419713 w 3636286"/>
              <a:gd name="connsiteY4" fmla="*/ 0 h 94727"/>
              <a:gd name="connsiteX5" fmla="*/ 3419713 w 3636286"/>
              <a:gd name="connsiteY5" fmla="*/ 58727 h 94727"/>
              <a:gd name="connsiteX6" fmla="*/ 0 w 3636286"/>
              <a:gd name="connsiteY6" fmla="*/ 58727 h 94727"/>
            </a:gdLst>
            <a:ahLst/>
            <a:cxnLst/>
            <a:rect l="l" t="t" r="r" b="b"/>
            <a:pathLst>
              <a:path w="3636286" h="94727">
                <a:moveTo>
                  <a:pt x="0" y="94727"/>
                </a:moveTo>
                <a:lnTo>
                  <a:pt x="3419713" y="94727"/>
                </a:lnTo>
                <a:lnTo>
                  <a:pt x="3528000" y="94727"/>
                </a:lnTo>
                <a:lnTo>
                  <a:pt x="3636286" y="94727"/>
                </a:lnTo>
                <a:lnTo>
                  <a:pt x="3419713" y="0"/>
                </a:lnTo>
                <a:lnTo>
                  <a:pt x="3419713" y="58727"/>
                </a:lnTo>
                <a:lnTo>
                  <a:pt x="0" y="5872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860441" y="2734349"/>
            <a:ext cx="6470241" cy="21632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5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实验设置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3693196" y="5023485"/>
            <a:ext cx="4805608" cy="473593"/>
          </a:xfrm>
          <a:custGeom>
            <a:avLst/>
            <a:gdLst>
              <a:gd name="T0" fmla="*/ 563 w 646"/>
              <a:gd name="T1" fmla="*/ 208 h 208"/>
              <a:gd name="T2" fmla="*/ 23 w 646"/>
              <a:gd name="T3" fmla="*/ 208 h 208"/>
              <a:gd name="T4" fmla="*/ 5 w 646"/>
              <a:gd name="T5" fmla="*/ 182 h 208"/>
              <a:gd name="T6" fmla="*/ 50 w 646"/>
              <a:gd name="T7" fmla="*/ 27 h 208"/>
              <a:gd name="T8" fmla="*/ 83 w 646"/>
              <a:gd name="T9" fmla="*/ 0 h 208"/>
              <a:gd name="T10" fmla="*/ 623 w 646"/>
              <a:gd name="T11" fmla="*/ 0 h 208"/>
              <a:gd name="T12" fmla="*/ 642 w 646"/>
              <a:gd name="T13" fmla="*/ 27 h 208"/>
              <a:gd name="T14" fmla="*/ 597 w 646"/>
              <a:gd name="T15" fmla="*/ 182 h 208"/>
              <a:gd name="T16" fmla="*/ 563 w 646"/>
              <a:gd name="T17" fmla="*/ 208 h 208"/>
            </a:gdLst>
            <a:ahLst/>
            <a:cxnLst/>
            <a:rect l="0" t="0" r="r" b="b"/>
            <a:pathLst>
              <a:path w="646" h="208">
                <a:moveTo>
                  <a:pt x="563" y="208"/>
                </a:moveTo>
                <a:cubicBezTo>
                  <a:pt x="23" y="208"/>
                  <a:pt x="23" y="208"/>
                  <a:pt x="23" y="208"/>
                </a:cubicBezTo>
                <a:cubicBezTo>
                  <a:pt x="9" y="208"/>
                  <a:pt x="0" y="196"/>
                  <a:pt x="5" y="182"/>
                </a:cubicBezTo>
                <a:cubicBezTo>
                  <a:pt x="50" y="27"/>
                  <a:pt x="50" y="27"/>
                  <a:pt x="50" y="27"/>
                </a:cubicBezTo>
                <a:cubicBezTo>
                  <a:pt x="54" y="12"/>
                  <a:pt x="69" y="0"/>
                  <a:pt x="83" y="0"/>
                </a:cubicBezTo>
                <a:cubicBezTo>
                  <a:pt x="623" y="0"/>
                  <a:pt x="623" y="0"/>
                  <a:pt x="623" y="0"/>
                </a:cubicBezTo>
                <a:cubicBezTo>
                  <a:pt x="638" y="0"/>
                  <a:pt x="646" y="12"/>
                  <a:pt x="642" y="27"/>
                </a:cubicBezTo>
                <a:cubicBezTo>
                  <a:pt x="597" y="182"/>
                  <a:pt x="597" y="182"/>
                  <a:pt x="597" y="182"/>
                </a:cubicBezTo>
                <a:cubicBezTo>
                  <a:pt x="593" y="196"/>
                  <a:pt x="578" y="208"/>
                  <a:pt x="563" y="208"/>
                </a:cubicBezTo>
                <a:close/>
              </a:path>
            </a:pathLst>
          </a:custGeom>
          <a:gradFill>
            <a:gsLst>
              <a:gs pos="25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20000"/>
                  <a:lumOff val="80000"/>
                  <a:alpha val="11000"/>
                </a:schemeClr>
              </a:gs>
            </a:gsLst>
            <a:lin ang="18900000" scaled="0"/>
          </a:gradFill>
          <a:ln w="12700" cap="sq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4171842" y="5118254"/>
            <a:ext cx="3549866" cy="2840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gradFill>
                  <a:gsLst>
                    <a:gs pos="13000">
                      <a:srgbClr val="0C6BFF">
                        <a:alpha val="100000"/>
                      </a:srgbClr>
                    </a:gs>
                    <a:gs pos="90000">
                      <a:srgbClr val="9EC4FF">
                        <a:alpha val="100000"/>
                      </a:srgbClr>
                    </a:gs>
                  </a:gsLst>
                  <a:lin ang="5400000" scaled="0"/>
                </a:gra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POWERPOINT DESIGN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4148161" y="1751568"/>
            <a:ext cx="2082800" cy="8275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5400">
                <a:ln w="12700">
                  <a:noFill/>
                </a:ln>
                <a:gradFill>
                  <a:gsLst>
                    <a:gs pos="19000">
                      <a:srgbClr val="0C6BFF">
                        <a:alpha val="100000"/>
                      </a:srgbClr>
                    </a:gs>
                    <a:gs pos="83000">
                      <a:srgbClr val="0165FF">
                        <a:alpha val="10000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PART.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671770" y="646668"/>
            <a:ext cx="1194270" cy="19324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5400">
                <a:ln w="12700">
                  <a:noFill/>
                </a:ln>
                <a:gradFill>
                  <a:gsLst>
                    <a:gs pos="19000">
                      <a:srgbClr val="0C6BFF">
                        <a:alpha val="100000"/>
                      </a:srgbClr>
                    </a:gs>
                    <a:gs pos="83000">
                      <a:srgbClr val="0165FF">
                        <a:alpha val="10000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02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4761" y="0"/>
            <a:ext cx="12196761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3" name="标题 1"/>
          <p:cNvSpPr txBox="1"/>
          <p:nvPr/>
        </p:nvSpPr>
        <p:spPr>
          <a:xfrm>
            <a:off x="5667413" y="3001365"/>
            <a:ext cx="1697146" cy="648183"/>
          </a:xfrm>
          <a:prstGeom prst="parallelogram">
            <a:avLst>
              <a:gd name="adj" fmla="val 55357"/>
            </a:avLst>
          </a:pr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en-US" altLang="zh-CN"/>
          </a:p>
        </p:txBody>
      </p:sp>
      <p:sp>
        <p:nvSpPr>
          <p:cNvPr id="4" name="标题 1"/>
          <p:cNvSpPr txBox="1"/>
          <p:nvPr/>
        </p:nvSpPr>
        <p:spPr>
          <a:xfrm rot="5400000">
            <a:off x="6688331" y="2919193"/>
            <a:ext cx="1294052" cy="806176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902119" y="3650152"/>
            <a:ext cx="1697146" cy="648183"/>
          </a:xfrm>
          <a:prstGeom prst="parallelogram">
            <a:avLst>
              <a:gd name="adj" fmla="val 55357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6200000" flipH="1">
            <a:off x="4210252" y="3571155"/>
            <a:ext cx="1294052" cy="806176"/>
          </a:xfrm>
          <a:prstGeom prst="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flipH="1">
            <a:off x="7082526" y="3140004"/>
            <a:ext cx="281778" cy="305236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flipH="1">
            <a:off x="4862318" y="3847447"/>
            <a:ext cx="288450" cy="271870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878626" y="1762664"/>
            <a:ext cx="3635203" cy="151638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数据集预处理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878626" y="3266920"/>
            <a:ext cx="3640274" cy="220932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数据集经过清洗和格式化，转换为模型可接受的输入格式，包括特征和标签的分离。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65471" y="1749964"/>
            <a:ext cx="3635203" cy="152908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数据集来源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60400" y="3266920"/>
            <a:ext cx="3640274" cy="220932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zh-CN" altLang="en-US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宋体" panose="02010600030101010101" pitchFamily="2" charset="-122"/>
                <a:cs typeface="Source Han Sans" panose="020B0400000000000000" charset="-122"/>
              </a:rPr>
              <a:t>数据集</a:t>
            </a: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包含情感标注的文本样本，用于训练</a:t>
            </a:r>
            <a:r>
              <a:rPr kumimoji="1" lang="zh-CN" altLang="en-US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宋体" panose="02010600030101010101" pitchFamily="2" charset="-122"/>
                <a:cs typeface="Source Han Sans" panose="020B0400000000000000" charset="-122"/>
              </a:rPr>
              <a:t>和</a:t>
            </a: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验证模型性能。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007545" y="210957"/>
            <a:ext cx="10696755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数据集描述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82743" y="334905"/>
            <a:ext cx="218940" cy="218940"/>
          </a:xfrm>
          <a:prstGeom prst="chevr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87699" y="334905"/>
            <a:ext cx="218940" cy="21894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292654" y="334905"/>
            <a:ext cx="218940" cy="21894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4761" y="0"/>
            <a:ext cx="12196761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3" name="标题 1"/>
          <p:cNvSpPr txBox="1"/>
          <p:nvPr/>
        </p:nvSpPr>
        <p:spPr>
          <a:xfrm>
            <a:off x="1044134" y="2036842"/>
            <a:ext cx="544357" cy="54435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38100" tIns="38100" rIns="38100" bIns="3810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42546" y="2719739"/>
            <a:ext cx="4747260" cy="75025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分布式模型训练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42547" y="3541863"/>
            <a:ext cx="4747260" cy="169026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分布式模型训练过程中遇到内存问题，需要优化资源配置和模型参数以提高稳定性。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451973" y="2032276"/>
            <a:ext cx="523502" cy="544357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/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chemeClr val="accent2"/>
          </a:solidFill>
          <a:ln cap="sq">
            <a:noFill/>
            <a:prstDash val="solid"/>
            <a:miter/>
          </a:ln>
        </p:spPr>
        <p:txBody>
          <a:bodyPr vert="horz" wrap="square" lIns="38100" tIns="38100" rIns="38100" bIns="3810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389494" y="2719739"/>
            <a:ext cx="4747260" cy="75025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本地模型训练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389494" y="3541863"/>
            <a:ext cx="4747260" cy="169026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本地模型训练过程顺利，资源消耗较低，训练速度较快，模型收敛效果良好。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007545" y="210957"/>
            <a:ext cx="10696755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模型训练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82743" y="334905"/>
            <a:ext cx="218940" cy="218940"/>
          </a:xfrm>
          <a:prstGeom prst="chevr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87699" y="334905"/>
            <a:ext cx="218940" cy="21894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92654" y="334905"/>
            <a:ext cx="218940" cy="21894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blipFill>
            <a:blip r:embed="rId1"/>
            <a:srcRect/>
            <a:stretch>
              <a:fillRect l="-164" r="-164"/>
            </a:stretch>
          </a:blip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bg1">
              <a:alpha val="92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 </a:t>
            </a:r>
            <a:endParaRPr kumimoji="1" lang="en-US" altLang="zh-CN"/>
          </a:p>
        </p:txBody>
      </p:sp>
      <p:sp>
        <p:nvSpPr>
          <p:cNvPr id="4" name="标题 1"/>
          <p:cNvSpPr txBox="1"/>
          <p:nvPr/>
        </p:nvSpPr>
        <p:spPr>
          <a:xfrm rot="3172644">
            <a:off x="1879916" y="1518209"/>
            <a:ext cx="672025" cy="672025"/>
          </a:xfrm>
          <a:prstGeom prst="ellipse">
            <a:avLst/>
          </a:prstGeom>
          <a:gradFill>
            <a:gsLst>
              <a:gs pos="9000">
                <a:schemeClr val="accent4">
                  <a:lumMod val="40000"/>
                  <a:lumOff val="60000"/>
                  <a:alpha val="80000"/>
                </a:schemeClr>
              </a:gs>
              <a:gs pos="100000">
                <a:schemeClr val="bg1">
                  <a:alpha val="7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1" y="4800602"/>
            <a:ext cx="5844209" cy="2064024"/>
          </a:xfrm>
          <a:custGeom>
            <a:avLst/>
            <a:gdLst>
              <a:gd name="connsiteX0" fmla="*/ 0 w 3095538"/>
              <a:gd name="connsiteY0" fmla="*/ 181103 h 1093264"/>
              <a:gd name="connsiteX1" fmla="*/ 1761689 w 3095538"/>
              <a:gd name="connsiteY1" fmla="*/ 546023 h 1093264"/>
              <a:gd name="connsiteX2" fmla="*/ 3095538 w 3095538"/>
              <a:gd name="connsiteY2" fmla="*/ 1093264 h 1093264"/>
              <a:gd name="connsiteX3" fmla="*/ 0 w 3095538"/>
              <a:gd name="connsiteY3" fmla="*/ 1093264 h 1093264"/>
              <a:gd name="connsiteX4" fmla="*/ 0 w 3095538"/>
              <a:gd name="connsiteY4" fmla="*/ 181103 h 1093264"/>
              <a:gd name="connsiteX5" fmla="*/ 0 w 3095538"/>
              <a:gd name="connsiteY5" fmla="*/ 184030 h 1096191"/>
            </a:gdLst>
            <a:ahLst/>
            <a:cxnLst/>
            <a:rect l="l" t="t" r="r" b="b"/>
            <a:pathLst>
              <a:path w="3095538" h="1093264">
                <a:moveTo>
                  <a:pt x="0" y="181103"/>
                </a:moveTo>
                <a:cubicBezTo>
                  <a:pt x="664128" y="-313847"/>
                  <a:pt x="1395369" y="340493"/>
                  <a:pt x="1761689" y="546023"/>
                </a:cubicBezTo>
                <a:cubicBezTo>
                  <a:pt x="2270621" y="847281"/>
                  <a:pt x="2599190" y="1043676"/>
                  <a:pt x="3095538" y="1093264"/>
                </a:cubicBezTo>
                <a:lnTo>
                  <a:pt x="0" y="1093264"/>
                </a:lnTo>
                <a:lnTo>
                  <a:pt x="0" y="18110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83000"/>
                </a:schemeClr>
              </a:gs>
              <a:gs pos="92000">
                <a:schemeClr val="accent2">
                  <a:alpha val="7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3760697"/>
            <a:ext cx="1826546" cy="3103929"/>
          </a:xfrm>
          <a:custGeom>
            <a:avLst/>
            <a:gdLst>
              <a:gd name="connsiteX0" fmla="*/ 0 w 1098373"/>
              <a:gd name="connsiteY0" fmla="*/ 411206 h 1732006"/>
              <a:gd name="connsiteX1" fmla="*/ 996333 w 1098373"/>
              <a:gd name="connsiteY1" fmla="*/ 79840 h 1732006"/>
              <a:gd name="connsiteX2" fmla="*/ 903120 w 1098373"/>
              <a:gd name="connsiteY2" fmla="*/ 740149 h 1732006"/>
              <a:gd name="connsiteX3" fmla="*/ 975360 w 1098373"/>
              <a:gd name="connsiteY3" fmla="*/ 1732006 h 1732006"/>
              <a:gd name="connsiteX4" fmla="*/ 0 w 1098373"/>
              <a:gd name="connsiteY4" fmla="*/ 1732006 h 1732006"/>
              <a:gd name="connsiteX5" fmla="*/ 0 w 1098373"/>
              <a:gd name="connsiteY5" fmla="*/ 411206 h 1732006"/>
            </a:gdLst>
            <a:ahLst/>
            <a:cxnLst/>
            <a:rect l="l" t="t" r="r" b="b"/>
            <a:pathLst>
              <a:path w="1098373" h="1732006">
                <a:moveTo>
                  <a:pt x="0" y="411206"/>
                </a:moveTo>
                <a:cubicBezTo>
                  <a:pt x="374056" y="-51587"/>
                  <a:pt x="832002" y="-61375"/>
                  <a:pt x="996333" y="79840"/>
                </a:cubicBezTo>
                <a:cubicBezTo>
                  <a:pt x="1185303" y="262595"/>
                  <a:pt x="1086978" y="569651"/>
                  <a:pt x="903120" y="740149"/>
                </a:cubicBezTo>
                <a:cubicBezTo>
                  <a:pt x="446620" y="1149733"/>
                  <a:pt x="426099" y="1564600"/>
                  <a:pt x="975360" y="1732006"/>
                </a:cubicBezTo>
                <a:lnTo>
                  <a:pt x="0" y="1732006"/>
                </a:lnTo>
                <a:lnTo>
                  <a:pt x="0" y="41120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9000"/>
                </a:schemeClr>
              </a:gs>
              <a:gs pos="100000">
                <a:schemeClr val="accent2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408950" y="-6626"/>
            <a:ext cx="4783050" cy="1477215"/>
          </a:xfrm>
          <a:custGeom>
            <a:avLst/>
            <a:gdLst>
              <a:gd name="connsiteX0" fmla="*/ 462410 w 2811328"/>
              <a:gd name="connsiteY0" fmla="*/ 0 h 868261"/>
              <a:gd name="connsiteX1" fmla="*/ 2811328 w 2811328"/>
              <a:gd name="connsiteY1" fmla="*/ 0 h 868261"/>
              <a:gd name="connsiteX2" fmla="*/ 2811328 w 2811328"/>
              <a:gd name="connsiteY2" fmla="*/ 868261 h 868261"/>
              <a:gd name="connsiteX3" fmla="*/ 982529 w 2811328"/>
              <a:gd name="connsiteY3" fmla="*/ 683703 h 868261"/>
              <a:gd name="connsiteX4" fmla="*/ 5210 w 2811328"/>
              <a:gd name="connsiteY4" fmla="*/ 654342 h 868261"/>
              <a:gd name="connsiteX5" fmla="*/ 462410 w 2811328"/>
              <a:gd name="connsiteY5" fmla="*/ 0 h 868261"/>
            </a:gdLst>
            <a:ahLst/>
            <a:cxnLst/>
            <a:rect l="l" t="t" r="r" b="b"/>
            <a:pathLst>
              <a:path w="2811328" h="868261">
                <a:moveTo>
                  <a:pt x="462410" y="0"/>
                </a:moveTo>
                <a:lnTo>
                  <a:pt x="2811328" y="0"/>
                </a:lnTo>
                <a:lnTo>
                  <a:pt x="2811328" y="868261"/>
                </a:lnTo>
                <a:cubicBezTo>
                  <a:pt x="2345739" y="308995"/>
                  <a:pt x="1153804" y="650846"/>
                  <a:pt x="982529" y="683703"/>
                </a:cubicBezTo>
                <a:cubicBezTo>
                  <a:pt x="404388" y="854978"/>
                  <a:pt x="58280" y="883459"/>
                  <a:pt x="5210" y="654342"/>
                </a:cubicBezTo>
                <a:cubicBezTo>
                  <a:pt x="-46523" y="236290"/>
                  <a:pt x="300222" y="78298"/>
                  <a:pt x="4624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alpha val="8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0193345" y="-6625"/>
            <a:ext cx="1998655" cy="3533484"/>
          </a:xfrm>
          <a:custGeom>
            <a:avLst/>
            <a:gdLst>
              <a:gd name="connsiteX0" fmla="*/ 155567 w 1095134"/>
              <a:gd name="connsiteY0" fmla="*/ 0 h 1738370"/>
              <a:gd name="connsiteX1" fmla="*/ 1095134 w 1095134"/>
              <a:gd name="connsiteY1" fmla="*/ 0 h 1738370"/>
              <a:gd name="connsiteX2" fmla="*/ 1095134 w 1095134"/>
              <a:gd name="connsiteY2" fmla="*/ 1342239 h 1738370"/>
              <a:gd name="connsiteX3" fmla="*/ 109427 w 1095134"/>
              <a:gd name="connsiteY3" fmla="*/ 1665214 h 1738370"/>
              <a:gd name="connsiteX4" fmla="*/ 541465 w 1095134"/>
              <a:gd name="connsiteY4" fmla="*/ 503339 h 1738370"/>
              <a:gd name="connsiteX5" fmla="*/ 155567 w 1095134"/>
              <a:gd name="connsiteY5" fmla="*/ 0 h 1738370"/>
            </a:gdLst>
            <a:ahLst/>
            <a:cxnLst/>
            <a:rect l="l" t="t" r="r" b="b"/>
            <a:pathLst>
              <a:path w="1095134" h="1738369">
                <a:moveTo>
                  <a:pt x="155567" y="0"/>
                </a:moveTo>
                <a:lnTo>
                  <a:pt x="1095134" y="0"/>
                </a:lnTo>
                <a:lnTo>
                  <a:pt x="1095134" y="1342239"/>
                </a:lnTo>
                <a:cubicBezTo>
                  <a:pt x="556841" y="1856764"/>
                  <a:pt x="203105" y="1754697"/>
                  <a:pt x="109427" y="1665214"/>
                </a:cubicBezTo>
                <a:cubicBezTo>
                  <a:pt x="-278562" y="1249260"/>
                  <a:pt x="485538" y="824916"/>
                  <a:pt x="541465" y="503339"/>
                </a:cubicBezTo>
                <a:cubicBezTo>
                  <a:pt x="572225" y="257262"/>
                  <a:pt x="363196" y="109756"/>
                  <a:pt x="155567" y="0"/>
                </a:cubicBezTo>
                <a:close/>
              </a:path>
            </a:pathLst>
          </a:custGeom>
          <a:gradFill>
            <a:gsLst>
              <a:gs pos="13000">
                <a:schemeClr val="accent1">
                  <a:alpha val="70000"/>
                </a:schemeClr>
              </a:gs>
              <a:gs pos="56000">
                <a:schemeClr val="accent1">
                  <a:alpha val="4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1120086" y="1610229"/>
            <a:ext cx="1071914" cy="4410721"/>
          </a:xfrm>
          <a:custGeom>
            <a:avLst/>
            <a:gdLst>
              <a:gd name="connsiteX0" fmla="*/ 2562 w 470947"/>
              <a:gd name="connsiteY0" fmla="*/ 541090 h 1937857"/>
              <a:gd name="connsiteX1" fmla="*/ 470947 w 470947"/>
              <a:gd name="connsiteY1" fmla="*/ 0 h 1937857"/>
              <a:gd name="connsiteX2" fmla="*/ 470947 w 470947"/>
              <a:gd name="connsiteY2" fmla="*/ 1937857 h 1937857"/>
              <a:gd name="connsiteX3" fmla="*/ 2562 w 470947"/>
              <a:gd name="connsiteY3" fmla="*/ 541090 h 1937857"/>
              <a:gd name="connsiteX4" fmla="*/ 2562 w 470947"/>
              <a:gd name="connsiteY4" fmla="*/ 541090 h 1937857"/>
            </a:gdLst>
            <a:ahLst/>
            <a:cxnLst/>
            <a:rect l="l" t="t" r="r" b="b"/>
            <a:pathLst>
              <a:path w="470947" h="1937857">
                <a:moveTo>
                  <a:pt x="2562" y="541090"/>
                </a:moveTo>
                <a:cubicBezTo>
                  <a:pt x="-34257" y="142614"/>
                  <a:pt x="335792" y="33555"/>
                  <a:pt x="470947" y="0"/>
                </a:cubicBezTo>
                <a:lnTo>
                  <a:pt x="470947" y="1937857"/>
                </a:lnTo>
                <a:cubicBezTo>
                  <a:pt x="453237" y="1279321"/>
                  <a:pt x="74800" y="985706"/>
                  <a:pt x="2562" y="54109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85000">
                <a:schemeClr val="accent2"/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51176" y="3262121"/>
            <a:ext cx="971224" cy="971224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1000">
                <a:schemeClr val="accent1">
                  <a:alpha val="22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285431" y="201326"/>
            <a:ext cx="596569" cy="596569"/>
          </a:xfrm>
          <a:prstGeom prst="ellipse">
            <a:avLst/>
          </a:prstGeom>
          <a:gradFill>
            <a:gsLst>
              <a:gs pos="0">
                <a:schemeClr val="accent2"/>
              </a:gs>
              <a:gs pos="81000">
                <a:schemeClr val="accent1">
                  <a:alpha val="47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172120" y="5862182"/>
            <a:ext cx="386558" cy="386558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  <a:alpha val="13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1369984" y="4043547"/>
            <a:ext cx="596569" cy="59656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  <a:alpha val="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0029423" y="1084105"/>
            <a:ext cx="307272" cy="307272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  <a:alpha val="1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728224" y="6279365"/>
            <a:ext cx="1008113" cy="338628"/>
          </a:xfrm>
          <a:custGeom>
            <a:avLst/>
            <a:gdLst>
              <a:gd name="connsiteX0" fmla="*/ 415276 w 3541187"/>
              <a:gd name="connsiteY0" fmla="*/ 0 h 415276"/>
              <a:gd name="connsiteX1" fmla="*/ 0 w 3541187"/>
              <a:gd name="connsiteY1" fmla="*/ 0 h 415276"/>
              <a:gd name="connsiteX2" fmla="*/ 0 w 3541187"/>
              <a:gd name="connsiteY2" fmla="*/ 415276 h 415276"/>
              <a:gd name="connsiteX3" fmla="*/ 415276 w 3541187"/>
              <a:gd name="connsiteY3" fmla="*/ 415276 h 415276"/>
              <a:gd name="connsiteX4" fmla="*/ 1184675 w 3541187"/>
              <a:gd name="connsiteY4" fmla="*/ 0 h 415276"/>
              <a:gd name="connsiteX5" fmla="*/ 769399 w 3541187"/>
              <a:gd name="connsiteY5" fmla="*/ 0 h 415276"/>
              <a:gd name="connsiteX6" fmla="*/ 769399 w 3541187"/>
              <a:gd name="connsiteY6" fmla="*/ 415276 h 415276"/>
              <a:gd name="connsiteX7" fmla="*/ 1184675 w 3541187"/>
              <a:gd name="connsiteY7" fmla="*/ 415276 h 415276"/>
              <a:gd name="connsiteX8" fmla="*/ 1954074 w 3541187"/>
              <a:gd name="connsiteY8" fmla="*/ 0 h 415276"/>
              <a:gd name="connsiteX9" fmla="*/ 1538798 w 3541187"/>
              <a:gd name="connsiteY9" fmla="*/ 0 h 415276"/>
              <a:gd name="connsiteX10" fmla="*/ 1538798 w 3541187"/>
              <a:gd name="connsiteY10" fmla="*/ 415276 h 415276"/>
              <a:gd name="connsiteX11" fmla="*/ 1954074 w 3541187"/>
              <a:gd name="connsiteY11" fmla="*/ 415276 h 415276"/>
              <a:gd name="connsiteX12" fmla="*/ 2771788 w 3541187"/>
              <a:gd name="connsiteY12" fmla="*/ 0 h 415276"/>
              <a:gd name="connsiteX13" fmla="*/ 2356512 w 3541187"/>
              <a:gd name="connsiteY13" fmla="*/ 0 h 415276"/>
              <a:gd name="connsiteX14" fmla="*/ 2356512 w 3541187"/>
              <a:gd name="connsiteY14" fmla="*/ 415276 h 415276"/>
              <a:gd name="connsiteX15" fmla="*/ 2771788 w 3541187"/>
              <a:gd name="connsiteY15" fmla="*/ 415276 h 415276"/>
              <a:gd name="connsiteX16" fmla="*/ 3541187 w 3541187"/>
              <a:gd name="connsiteY16" fmla="*/ 0 h 415276"/>
              <a:gd name="connsiteX17" fmla="*/ 3125911 w 3541187"/>
              <a:gd name="connsiteY17" fmla="*/ 0 h 415276"/>
              <a:gd name="connsiteX18" fmla="*/ 3125911 w 3541187"/>
              <a:gd name="connsiteY18" fmla="*/ 415276 h 415276"/>
              <a:gd name="connsiteX19" fmla="*/ 3541187 w 3541187"/>
              <a:gd name="connsiteY19" fmla="*/ 415276 h 415276"/>
            </a:gdLst>
            <a:ahLst/>
            <a:cxnLst/>
            <a:rect l="l" t="t" r="r" b="b"/>
            <a:pathLst>
              <a:path w="3541187" h="415276">
                <a:moveTo>
                  <a:pt x="415276" y="0"/>
                </a:moveTo>
                <a:lnTo>
                  <a:pt x="0" y="0"/>
                </a:lnTo>
                <a:lnTo>
                  <a:pt x="0" y="415276"/>
                </a:lnTo>
                <a:lnTo>
                  <a:pt x="415276" y="415276"/>
                </a:lnTo>
                <a:close/>
                <a:moveTo>
                  <a:pt x="1184675" y="0"/>
                </a:moveTo>
                <a:lnTo>
                  <a:pt x="769399" y="0"/>
                </a:lnTo>
                <a:lnTo>
                  <a:pt x="769399" y="415276"/>
                </a:lnTo>
                <a:lnTo>
                  <a:pt x="1184675" y="415276"/>
                </a:lnTo>
                <a:close/>
                <a:moveTo>
                  <a:pt x="1954074" y="0"/>
                </a:moveTo>
                <a:lnTo>
                  <a:pt x="1538798" y="0"/>
                </a:lnTo>
                <a:lnTo>
                  <a:pt x="1538798" y="415276"/>
                </a:lnTo>
                <a:lnTo>
                  <a:pt x="1954074" y="415276"/>
                </a:lnTo>
                <a:close/>
                <a:moveTo>
                  <a:pt x="2771788" y="0"/>
                </a:moveTo>
                <a:lnTo>
                  <a:pt x="2356512" y="0"/>
                </a:lnTo>
                <a:lnTo>
                  <a:pt x="2356512" y="415276"/>
                </a:lnTo>
                <a:lnTo>
                  <a:pt x="2771788" y="415276"/>
                </a:lnTo>
                <a:close/>
                <a:moveTo>
                  <a:pt x="3541187" y="0"/>
                </a:moveTo>
                <a:lnTo>
                  <a:pt x="3125911" y="0"/>
                </a:lnTo>
                <a:lnTo>
                  <a:pt x="3125911" y="415276"/>
                </a:lnTo>
                <a:lnTo>
                  <a:pt x="3541187" y="41527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7" name="标题 1"/>
          <p:cNvCxnSpPr/>
          <p:nvPr/>
        </p:nvCxnSpPr>
        <p:spPr>
          <a:xfrm flipH="1" flipV="1">
            <a:off x="6297525" y="6445403"/>
            <a:ext cx="4104189" cy="6553"/>
          </a:xfrm>
          <a:prstGeom prst="line">
            <a:avLst/>
          </a:prstGeom>
          <a:noFill/>
          <a:ln w="19050" cap="sq">
            <a:solidFill>
              <a:schemeClr val="accent1">
                <a:lumMod val="60000"/>
                <a:lumOff val="40000"/>
              </a:schemeClr>
            </a:solidFill>
            <a:prstDash val="solid"/>
            <a:miter/>
            <a:headEnd type="oval" w="lg" len="lg"/>
            <a:tailEnd type="oval" w="lg" len="lg"/>
          </a:ln>
        </p:spPr>
      </p:cxnSp>
      <p:sp>
        <p:nvSpPr>
          <p:cNvPr id="18" name="标题 1"/>
          <p:cNvSpPr txBox="1"/>
          <p:nvPr/>
        </p:nvSpPr>
        <p:spPr>
          <a:xfrm flipV="1">
            <a:off x="3072680" y="589809"/>
            <a:ext cx="3636286" cy="53470"/>
          </a:xfrm>
          <a:custGeom>
            <a:avLst/>
            <a:gdLst>
              <a:gd name="connsiteX0" fmla="*/ 0 w 3636286"/>
              <a:gd name="connsiteY0" fmla="*/ 94727 h 94727"/>
              <a:gd name="connsiteX1" fmla="*/ 3419713 w 3636286"/>
              <a:gd name="connsiteY1" fmla="*/ 94727 h 94727"/>
              <a:gd name="connsiteX2" fmla="*/ 3528000 w 3636286"/>
              <a:gd name="connsiteY2" fmla="*/ 94727 h 94727"/>
              <a:gd name="connsiteX3" fmla="*/ 3636286 w 3636286"/>
              <a:gd name="connsiteY3" fmla="*/ 94727 h 94727"/>
              <a:gd name="connsiteX4" fmla="*/ 3419713 w 3636286"/>
              <a:gd name="connsiteY4" fmla="*/ 0 h 94727"/>
              <a:gd name="connsiteX5" fmla="*/ 3419713 w 3636286"/>
              <a:gd name="connsiteY5" fmla="*/ 58727 h 94727"/>
              <a:gd name="connsiteX6" fmla="*/ 0 w 3636286"/>
              <a:gd name="connsiteY6" fmla="*/ 58727 h 94727"/>
            </a:gdLst>
            <a:ahLst/>
            <a:cxnLst/>
            <a:rect l="l" t="t" r="r" b="b"/>
            <a:pathLst>
              <a:path w="3636286" h="94727">
                <a:moveTo>
                  <a:pt x="0" y="94727"/>
                </a:moveTo>
                <a:lnTo>
                  <a:pt x="3419713" y="94727"/>
                </a:lnTo>
                <a:lnTo>
                  <a:pt x="3528000" y="94727"/>
                </a:lnTo>
                <a:lnTo>
                  <a:pt x="3636286" y="94727"/>
                </a:lnTo>
                <a:lnTo>
                  <a:pt x="3419713" y="0"/>
                </a:lnTo>
                <a:lnTo>
                  <a:pt x="3419713" y="58727"/>
                </a:lnTo>
                <a:lnTo>
                  <a:pt x="0" y="5872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3072531" y="2665769"/>
            <a:ext cx="6470241" cy="21632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5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模型性能评估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3693196" y="5023485"/>
            <a:ext cx="4805608" cy="473593"/>
          </a:xfrm>
          <a:custGeom>
            <a:avLst/>
            <a:gdLst>
              <a:gd name="T0" fmla="*/ 563 w 646"/>
              <a:gd name="T1" fmla="*/ 208 h 208"/>
              <a:gd name="T2" fmla="*/ 23 w 646"/>
              <a:gd name="T3" fmla="*/ 208 h 208"/>
              <a:gd name="T4" fmla="*/ 5 w 646"/>
              <a:gd name="T5" fmla="*/ 182 h 208"/>
              <a:gd name="T6" fmla="*/ 50 w 646"/>
              <a:gd name="T7" fmla="*/ 27 h 208"/>
              <a:gd name="T8" fmla="*/ 83 w 646"/>
              <a:gd name="T9" fmla="*/ 0 h 208"/>
              <a:gd name="T10" fmla="*/ 623 w 646"/>
              <a:gd name="T11" fmla="*/ 0 h 208"/>
              <a:gd name="T12" fmla="*/ 642 w 646"/>
              <a:gd name="T13" fmla="*/ 27 h 208"/>
              <a:gd name="T14" fmla="*/ 597 w 646"/>
              <a:gd name="T15" fmla="*/ 182 h 208"/>
              <a:gd name="T16" fmla="*/ 563 w 646"/>
              <a:gd name="T17" fmla="*/ 208 h 208"/>
            </a:gdLst>
            <a:ahLst/>
            <a:cxnLst/>
            <a:rect l="0" t="0" r="r" b="b"/>
            <a:pathLst>
              <a:path w="646" h="208">
                <a:moveTo>
                  <a:pt x="563" y="208"/>
                </a:moveTo>
                <a:cubicBezTo>
                  <a:pt x="23" y="208"/>
                  <a:pt x="23" y="208"/>
                  <a:pt x="23" y="208"/>
                </a:cubicBezTo>
                <a:cubicBezTo>
                  <a:pt x="9" y="208"/>
                  <a:pt x="0" y="196"/>
                  <a:pt x="5" y="182"/>
                </a:cubicBezTo>
                <a:cubicBezTo>
                  <a:pt x="50" y="27"/>
                  <a:pt x="50" y="27"/>
                  <a:pt x="50" y="27"/>
                </a:cubicBezTo>
                <a:cubicBezTo>
                  <a:pt x="54" y="12"/>
                  <a:pt x="69" y="0"/>
                  <a:pt x="83" y="0"/>
                </a:cubicBezTo>
                <a:cubicBezTo>
                  <a:pt x="623" y="0"/>
                  <a:pt x="623" y="0"/>
                  <a:pt x="623" y="0"/>
                </a:cubicBezTo>
                <a:cubicBezTo>
                  <a:pt x="638" y="0"/>
                  <a:pt x="646" y="12"/>
                  <a:pt x="642" y="27"/>
                </a:cubicBezTo>
                <a:cubicBezTo>
                  <a:pt x="597" y="182"/>
                  <a:pt x="597" y="182"/>
                  <a:pt x="597" y="182"/>
                </a:cubicBezTo>
                <a:cubicBezTo>
                  <a:pt x="593" y="196"/>
                  <a:pt x="578" y="208"/>
                  <a:pt x="563" y="208"/>
                </a:cubicBezTo>
                <a:close/>
              </a:path>
            </a:pathLst>
          </a:custGeom>
          <a:gradFill>
            <a:gsLst>
              <a:gs pos="25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20000"/>
                  <a:lumOff val="80000"/>
                  <a:alpha val="11000"/>
                </a:schemeClr>
              </a:gs>
            </a:gsLst>
            <a:lin ang="18900000" scaled="0"/>
          </a:gradFill>
          <a:ln w="12700" cap="sq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4321067" y="5118254"/>
            <a:ext cx="3549866" cy="2840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gradFill>
                  <a:gsLst>
                    <a:gs pos="13000">
                      <a:srgbClr val="0C6BFF">
                        <a:alpha val="100000"/>
                      </a:srgbClr>
                    </a:gs>
                    <a:gs pos="90000">
                      <a:srgbClr val="9EC4FF">
                        <a:alpha val="100000"/>
                      </a:srgbClr>
                    </a:gs>
                  </a:gsLst>
                  <a:lin ang="5400000" scaled="0"/>
                </a:gra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POWERPOINT DESIGN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4148161" y="1751568"/>
            <a:ext cx="2082800" cy="8275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5400">
                <a:ln w="12700">
                  <a:noFill/>
                </a:ln>
                <a:gradFill>
                  <a:gsLst>
                    <a:gs pos="19000">
                      <a:srgbClr val="0C6BFF">
                        <a:alpha val="100000"/>
                      </a:srgbClr>
                    </a:gs>
                    <a:gs pos="83000">
                      <a:srgbClr val="0165FF">
                        <a:alpha val="10000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PART.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671770" y="646668"/>
            <a:ext cx="1194270" cy="19324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5400">
                <a:ln w="12700">
                  <a:noFill/>
                </a:ln>
                <a:gradFill>
                  <a:gsLst>
                    <a:gs pos="19000">
                      <a:srgbClr val="0C6BFF">
                        <a:alpha val="100000"/>
                      </a:srgbClr>
                    </a:gs>
                    <a:gs pos="83000">
                      <a:srgbClr val="0165FF">
                        <a:alpha val="10000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03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4761" y="0"/>
            <a:ext cx="12196761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3" name="标题 1"/>
          <p:cNvSpPr txBox="1"/>
          <p:nvPr/>
        </p:nvSpPr>
        <p:spPr>
          <a:xfrm>
            <a:off x="4102703" y="2568319"/>
            <a:ext cx="3986594" cy="1751854"/>
          </a:xfrm>
          <a:custGeom>
            <a:avLst/>
            <a:gdLst/>
            <a:ahLst/>
            <a:cxnLst/>
            <a:rect l="0" t="0" r="r" b="b"/>
            <a:pathLst>
              <a:path w="21148" h="20611" extrusionOk="0">
                <a:moveTo>
                  <a:pt x="16500" y="20611"/>
                </a:moveTo>
                <a:cubicBezTo>
                  <a:pt x="15311" y="20611"/>
                  <a:pt x="14122" y="19597"/>
                  <a:pt x="13218" y="17594"/>
                </a:cubicBezTo>
                <a:cubicBezTo>
                  <a:pt x="10257" y="11028"/>
                  <a:pt x="10257" y="11028"/>
                  <a:pt x="10257" y="11028"/>
                </a:cubicBezTo>
                <a:cubicBezTo>
                  <a:pt x="7284" y="4437"/>
                  <a:pt x="7284" y="4437"/>
                  <a:pt x="7284" y="4437"/>
                </a:cubicBezTo>
                <a:cubicBezTo>
                  <a:pt x="6586" y="2890"/>
                  <a:pt x="5649" y="2028"/>
                  <a:pt x="4642" y="2028"/>
                </a:cubicBezTo>
                <a:cubicBezTo>
                  <a:pt x="3648" y="2028"/>
                  <a:pt x="2710" y="2890"/>
                  <a:pt x="2001" y="4437"/>
                </a:cubicBezTo>
                <a:cubicBezTo>
                  <a:pt x="1304" y="6008"/>
                  <a:pt x="915" y="8087"/>
                  <a:pt x="915" y="10293"/>
                </a:cubicBezTo>
                <a:cubicBezTo>
                  <a:pt x="915" y="12524"/>
                  <a:pt x="1304" y="14603"/>
                  <a:pt x="2001" y="16149"/>
                </a:cubicBezTo>
                <a:cubicBezTo>
                  <a:pt x="3465" y="19394"/>
                  <a:pt x="5832" y="19394"/>
                  <a:pt x="7284" y="16149"/>
                </a:cubicBezTo>
                <a:cubicBezTo>
                  <a:pt x="9491" y="11256"/>
                  <a:pt x="9491" y="11256"/>
                  <a:pt x="9491" y="11256"/>
                </a:cubicBezTo>
                <a:cubicBezTo>
                  <a:pt x="10143" y="12701"/>
                  <a:pt x="10143" y="12701"/>
                  <a:pt x="10143" y="12701"/>
                </a:cubicBezTo>
                <a:cubicBezTo>
                  <a:pt x="7936" y="17594"/>
                  <a:pt x="7936" y="17594"/>
                  <a:pt x="7936" y="17594"/>
                </a:cubicBezTo>
                <a:cubicBezTo>
                  <a:pt x="6118" y="21600"/>
                  <a:pt x="3167" y="21600"/>
                  <a:pt x="1361" y="17594"/>
                </a:cubicBezTo>
                <a:cubicBezTo>
                  <a:pt x="480" y="15642"/>
                  <a:pt x="0" y="13056"/>
                  <a:pt x="0" y="10293"/>
                </a:cubicBezTo>
                <a:cubicBezTo>
                  <a:pt x="0" y="7555"/>
                  <a:pt x="480" y="4969"/>
                  <a:pt x="1361" y="3017"/>
                </a:cubicBezTo>
                <a:cubicBezTo>
                  <a:pt x="2241" y="1065"/>
                  <a:pt x="3408" y="0"/>
                  <a:pt x="4642" y="0"/>
                </a:cubicBezTo>
                <a:cubicBezTo>
                  <a:pt x="5889" y="0"/>
                  <a:pt x="7055" y="1065"/>
                  <a:pt x="7936" y="3017"/>
                </a:cubicBezTo>
                <a:cubicBezTo>
                  <a:pt x="10897" y="9583"/>
                  <a:pt x="10897" y="9583"/>
                  <a:pt x="10897" y="9583"/>
                </a:cubicBezTo>
                <a:cubicBezTo>
                  <a:pt x="13859" y="16149"/>
                  <a:pt x="13859" y="16149"/>
                  <a:pt x="13859" y="16149"/>
                </a:cubicBezTo>
                <a:cubicBezTo>
                  <a:pt x="15322" y="19394"/>
                  <a:pt x="17689" y="19394"/>
                  <a:pt x="19142" y="16149"/>
                </a:cubicBezTo>
                <a:cubicBezTo>
                  <a:pt x="20605" y="12930"/>
                  <a:pt x="20605" y="7682"/>
                  <a:pt x="19142" y="4437"/>
                </a:cubicBezTo>
                <a:cubicBezTo>
                  <a:pt x="18444" y="2890"/>
                  <a:pt x="17506" y="2028"/>
                  <a:pt x="16500" y="2028"/>
                </a:cubicBezTo>
                <a:cubicBezTo>
                  <a:pt x="15505" y="2028"/>
                  <a:pt x="14568" y="2890"/>
                  <a:pt x="13859" y="4437"/>
                </a:cubicBezTo>
                <a:cubicBezTo>
                  <a:pt x="11640" y="9380"/>
                  <a:pt x="11640" y="9380"/>
                  <a:pt x="11640" y="9380"/>
                </a:cubicBezTo>
                <a:cubicBezTo>
                  <a:pt x="10989" y="7935"/>
                  <a:pt x="10989" y="7935"/>
                  <a:pt x="10989" y="7935"/>
                </a:cubicBezTo>
                <a:cubicBezTo>
                  <a:pt x="13218" y="3017"/>
                  <a:pt x="13218" y="3017"/>
                  <a:pt x="13218" y="3017"/>
                </a:cubicBezTo>
                <a:cubicBezTo>
                  <a:pt x="14099" y="1065"/>
                  <a:pt x="15265" y="0"/>
                  <a:pt x="16500" y="0"/>
                </a:cubicBezTo>
                <a:cubicBezTo>
                  <a:pt x="17747" y="0"/>
                  <a:pt x="18913" y="1065"/>
                  <a:pt x="19793" y="3017"/>
                </a:cubicBezTo>
                <a:cubicBezTo>
                  <a:pt x="21600" y="7023"/>
                  <a:pt x="21600" y="13563"/>
                  <a:pt x="19793" y="17594"/>
                </a:cubicBezTo>
                <a:cubicBezTo>
                  <a:pt x="18890" y="19597"/>
                  <a:pt x="17689" y="20611"/>
                  <a:pt x="16500" y="206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175" cap="sq">
            <a:noFill/>
            <a:miter/>
          </a:ln>
        </p:spPr>
        <p:txBody>
          <a:bodyPr vert="horz" wrap="square" lIns="45719" tIns="45720" rIns="45719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188416" y="2637972"/>
            <a:ext cx="3815650" cy="1581980"/>
          </a:xfrm>
          <a:custGeom>
            <a:avLst/>
            <a:gdLst/>
            <a:ahLst/>
            <a:cxnLst/>
            <a:rect l="0" t="0" r="r" b="b"/>
            <a:pathLst>
              <a:path w="20762" h="19681" extrusionOk="0">
                <a:moveTo>
                  <a:pt x="11143" y="8083"/>
                </a:moveTo>
                <a:cubicBezTo>
                  <a:pt x="13418" y="2878"/>
                  <a:pt x="13418" y="2878"/>
                  <a:pt x="13418" y="2878"/>
                </a:cubicBezTo>
                <a:cubicBezTo>
                  <a:pt x="15095" y="-959"/>
                  <a:pt x="17816" y="-959"/>
                  <a:pt x="19504" y="2878"/>
                </a:cubicBezTo>
                <a:cubicBezTo>
                  <a:pt x="19504" y="2878"/>
                  <a:pt x="19504" y="2878"/>
                  <a:pt x="19504" y="2878"/>
                </a:cubicBezTo>
                <a:cubicBezTo>
                  <a:pt x="21181" y="6715"/>
                  <a:pt x="21181" y="12940"/>
                  <a:pt x="19504" y="16804"/>
                </a:cubicBezTo>
                <a:cubicBezTo>
                  <a:pt x="19504" y="16804"/>
                  <a:pt x="19504" y="16804"/>
                  <a:pt x="19504" y="16804"/>
                </a:cubicBezTo>
                <a:cubicBezTo>
                  <a:pt x="17816" y="20641"/>
                  <a:pt x="15095" y="20641"/>
                  <a:pt x="13418" y="16804"/>
                </a:cubicBezTo>
                <a:cubicBezTo>
                  <a:pt x="10381" y="9828"/>
                  <a:pt x="10381" y="9828"/>
                  <a:pt x="10381" y="9828"/>
                </a:cubicBezTo>
                <a:cubicBezTo>
                  <a:pt x="7344" y="2878"/>
                  <a:pt x="7344" y="2878"/>
                  <a:pt x="7344" y="2878"/>
                </a:cubicBezTo>
                <a:cubicBezTo>
                  <a:pt x="5667" y="-959"/>
                  <a:pt x="2935" y="-959"/>
                  <a:pt x="1258" y="2878"/>
                </a:cubicBezTo>
                <a:cubicBezTo>
                  <a:pt x="1258" y="2878"/>
                  <a:pt x="1258" y="2878"/>
                  <a:pt x="1258" y="2878"/>
                </a:cubicBezTo>
                <a:cubicBezTo>
                  <a:pt x="-419" y="6715"/>
                  <a:pt x="-419" y="12940"/>
                  <a:pt x="1258" y="16804"/>
                </a:cubicBezTo>
                <a:cubicBezTo>
                  <a:pt x="1258" y="16804"/>
                  <a:pt x="1258" y="16804"/>
                  <a:pt x="1258" y="16804"/>
                </a:cubicBezTo>
                <a:cubicBezTo>
                  <a:pt x="2935" y="20641"/>
                  <a:pt x="5667" y="20641"/>
                  <a:pt x="7344" y="16804"/>
                </a:cubicBezTo>
                <a:cubicBezTo>
                  <a:pt x="9607" y="11625"/>
                  <a:pt x="9607" y="11625"/>
                  <a:pt x="9607" y="11625"/>
                </a:cubicBezTo>
              </a:path>
            </a:pathLst>
          </a:custGeom>
          <a:noFill/>
          <a:ln w="23813" cap="sq">
            <a:solidFill>
              <a:schemeClr val="accent1"/>
            </a:solidFill>
            <a:miter/>
          </a:ln>
        </p:spPr>
        <p:txBody>
          <a:bodyPr vert="horz" wrap="square" lIns="45719" tIns="45720" rIns="45719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5" name="标题 1"/>
          <p:cNvSpPr txBox="1"/>
          <p:nvPr/>
        </p:nvSpPr>
        <p:spPr>
          <a:xfrm>
            <a:off x="3970462" y="3113249"/>
            <a:ext cx="584461" cy="58446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 w="3175" cap="sq">
            <a:noFill/>
            <a:miter/>
          </a:ln>
        </p:spPr>
        <p:txBody>
          <a:bodyPr vert="horz" wrap="square" lIns="45719" tIns="45720" rIns="45719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624377" y="3113249"/>
            <a:ext cx="582168" cy="58446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0"/>
          </a:gradFill>
          <a:ln w="3175" cap="sq">
            <a:noFill/>
            <a:miter/>
          </a:ln>
        </p:spPr>
        <p:txBody>
          <a:bodyPr vert="horz" wrap="square" lIns="45719" tIns="45720" rIns="45719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0400" y="2761877"/>
            <a:ext cx="3189037" cy="44791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gradFill>
                  <a:gsLst>
                    <a:gs pos="0">
                      <a:srgbClr val="0C6BFF">
                        <a:alpha val="100000"/>
                      </a:srgbClr>
                    </a:gs>
                    <a:gs pos="93000">
                      <a:srgbClr val="004EC8">
                        <a:alpha val="100000"/>
                      </a:srgbClr>
                    </a:gs>
                  </a:gsLst>
                  <a:lin ang="27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准确率和损失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98500" y="3236595"/>
            <a:ext cx="3124200" cy="20408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分布式模型在测试集上的准确率为0.7620，损失为0.6684，表现一般，存在优化空间。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074525" y="3223382"/>
            <a:ext cx="376335" cy="36419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724392" y="3214410"/>
            <a:ext cx="382138" cy="382138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007545" y="210957"/>
            <a:ext cx="10696755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分布式模型评估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82743" y="334905"/>
            <a:ext cx="218940" cy="218940"/>
          </a:xfrm>
          <a:prstGeom prst="chevr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87699" y="334905"/>
            <a:ext cx="218940" cy="21894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292654" y="334905"/>
            <a:ext cx="218940" cy="21894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485" y="864870"/>
            <a:ext cx="5995035" cy="202692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06755" y="864870"/>
            <a:ext cx="6705600" cy="11887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来看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爆内存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的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错误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，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有时可以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跑，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有时跑不了</a:t>
            </a:r>
            <a:endParaRPr lang="en-US" altLang="zh-CN" sz="240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485" y="3949700"/>
            <a:ext cx="6181725" cy="85915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912485" y="2934335"/>
            <a:ext cx="5576570" cy="66230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另外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一个模型之前训练完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了</a:t>
            </a:r>
            <a:endParaRPr lang="en-US" altLang="zh-CN" sz="240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735" y="4808855"/>
            <a:ext cx="8005445" cy="187642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87680" y="5010150"/>
            <a:ext cx="3529965" cy="11887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可以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看到模型效果并不好 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，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并且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也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很难改进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，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因为原来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的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代码也不知道什么时候不会爆内存</a:t>
            </a:r>
            <a:endParaRPr lang="en-US" altLang="zh-CN" sz="24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24020" y="27089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53440" y="1603375"/>
          <a:ext cx="10485120" cy="3717290"/>
        </p:xfrm>
        <a:graphic>
          <a:graphicData uri="http://schemas.openxmlformats.org/drawingml/2006/table">
            <a:tbl>
              <a:tblPr/>
              <a:tblGrid>
                <a:gridCol w="10485120"/>
              </a:tblGrid>
              <a:tr h="3717290">
                <a:tc>
                  <a:txBody>
                    <a:bodyPr/>
                    <a:p>
                      <a:r>
                        <a:rPr lang="en-US" altLang="zh-CN" sz="4800"/>
                        <a:t>   "Talk is cheap. Show me the code."</a:t>
                      </a:r>
                      <a:endParaRPr lang="en-US" altLang="zh-CN" sz="4800"/>
                    </a:p>
                    <a:p>
                      <a:r>
                        <a:rPr lang="en-US" altLang="zh-CN" sz="4800"/>
                        <a:t>       - Linus Torvalds</a:t>
                      </a:r>
                      <a:endParaRPr lang="en-US" altLang="zh-CN" sz="4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548640"/>
            <a:ext cx="10978515" cy="51466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795" y="405130"/>
            <a:ext cx="7107555" cy="58299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4761" y="0"/>
            <a:ext cx="12196761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3" name="标题 1"/>
          <p:cNvSpPr txBox="1"/>
          <p:nvPr/>
        </p:nvSpPr>
        <p:spPr>
          <a:xfrm>
            <a:off x="1917637" y="1427202"/>
            <a:ext cx="3356463" cy="4465598"/>
          </a:xfrm>
          <a:prstGeom prst="roundRect">
            <a:avLst>
              <a:gd name="adj" fmla="val 3013"/>
            </a:avLst>
          </a:prstGeom>
          <a:solidFill>
            <a:schemeClr val="bg1"/>
          </a:solidFill>
          <a:ln w="12700" cap="sq">
            <a:solidFill>
              <a:schemeClr val="bg1">
                <a:lumMod val="95000"/>
              </a:schemeClr>
            </a:solidFill>
            <a:miter/>
          </a:ln>
          <a:effectLst>
            <a:outerShdw blurRad="228600" sx="98000" sy="98000" algn="ctr" rotWithShape="0">
              <a:schemeClr val="tx1">
                <a:lumMod val="75000"/>
                <a:lumOff val="25000"/>
                <a:alpha val="29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917637" y="1423361"/>
            <a:ext cx="3356463" cy="910783"/>
          </a:xfrm>
          <a:custGeom>
            <a:avLst/>
            <a:gdLst>
              <a:gd name="connsiteX0" fmla="*/ 104959 w 3483534"/>
              <a:gd name="connsiteY0" fmla="*/ 0 h 697102"/>
              <a:gd name="connsiteX1" fmla="*/ 3378575 w 3483534"/>
              <a:gd name="connsiteY1" fmla="*/ 0 h 697102"/>
              <a:gd name="connsiteX2" fmla="*/ 3483534 w 3483534"/>
              <a:gd name="connsiteY2" fmla="*/ 104959 h 697102"/>
              <a:gd name="connsiteX3" fmla="*/ 3483534 w 3483534"/>
              <a:gd name="connsiteY3" fmla="*/ 697102 h 697102"/>
              <a:gd name="connsiteX4" fmla="*/ 0 w 3483534"/>
              <a:gd name="connsiteY4" fmla="*/ 697102 h 697102"/>
              <a:gd name="connsiteX5" fmla="*/ 0 w 3483534"/>
              <a:gd name="connsiteY5" fmla="*/ 104959 h 697102"/>
              <a:gd name="connsiteX6" fmla="*/ 104959 w 3483534"/>
              <a:gd name="connsiteY6" fmla="*/ 0 h 697102"/>
            </a:gdLst>
            <a:ahLst/>
            <a:cxnLst/>
            <a:rect l="l" t="t" r="r" b="b"/>
            <a:pathLst>
              <a:path w="3483534" h="697102">
                <a:moveTo>
                  <a:pt x="104959" y="0"/>
                </a:moveTo>
                <a:lnTo>
                  <a:pt x="3378575" y="0"/>
                </a:lnTo>
                <a:cubicBezTo>
                  <a:pt x="3436542" y="0"/>
                  <a:pt x="3483534" y="46992"/>
                  <a:pt x="3483534" y="104959"/>
                </a:cubicBezTo>
                <a:lnTo>
                  <a:pt x="3483534" y="697102"/>
                </a:lnTo>
                <a:lnTo>
                  <a:pt x="0" y="697102"/>
                </a:lnTo>
                <a:lnTo>
                  <a:pt x="0" y="104959"/>
                </a:lnTo>
                <a:cubicBezTo>
                  <a:pt x="0" y="46992"/>
                  <a:pt x="46992" y="0"/>
                  <a:pt x="104959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110948" y="1503220"/>
            <a:ext cx="2954948" cy="7598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准确率和损失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112750" y="4178629"/>
            <a:ext cx="2978936" cy="152627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本地模型在验证集上的准确率为0.9208，损失为0.2688，表现优异，模型泛化能力强。</a:t>
            </a:r>
            <a:endParaRPr kumimoji="1" lang="zh-CN" altLang="en-US"/>
          </a:p>
        </p:txBody>
      </p:sp>
      <p:cxnSp>
        <p:nvCxnSpPr>
          <p:cNvPr id="7" name="标题 1"/>
          <p:cNvCxnSpPr/>
          <p:nvPr/>
        </p:nvCxnSpPr>
        <p:spPr>
          <a:xfrm>
            <a:off x="2214350" y="4031846"/>
            <a:ext cx="2763036" cy="0"/>
          </a:xfrm>
          <a:prstGeom prst="line">
            <a:avLst/>
          </a:prstGeom>
          <a:noFill/>
          <a:ln w="12700" cap="rnd">
            <a:solidFill>
              <a:schemeClr val="accent1"/>
            </a:solidFill>
            <a:miter/>
          </a:ln>
        </p:spPr>
      </p:cxnSp>
      <p:sp>
        <p:nvSpPr>
          <p:cNvPr id="8" name="标题 1"/>
          <p:cNvSpPr txBox="1"/>
          <p:nvPr/>
        </p:nvSpPr>
        <p:spPr>
          <a:xfrm>
            <a:off x="2991014" y="2583928"/>
            <a:ext cx="1209710" cy="1209710"/>
          </a:xfrm>
          <a:prstGeom prst="ellipse">
            <a:avLst/>
          </a:prstGeom>
          <a:gradFill>
            <a:gsLst>
              <a:gs pos="23000">
                <a:schemeClr val="bg1"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blurRad="114300" dist="38100" dir="2700000" algn="tl" rotWithShape="0">
              <a:schemeClr val="tx1">
                <a:lumMod val="75000"/>
                <a:lumOff val="25000"/>
                <a:alpha val="22000"/>
              </a:schemeClr>
            </a:outerShdw>
          </a:effectLst>
        </p:spPr>
        <p:txBody>
          <a:bodyPr vert="horz"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905200" y="1427202"/>
            <a:ext cx="3356463" cy="4464637"/>
          </a:xfrm>
          <a:prstGeom prst="roundRect">
            <a:avLst>
              <a:gd name="adj" fmla="val 3013"/>
            </a:avLst>
          </a:prstGeom>
          <a:solidFill>
            <a:schemeClr val="bg1"/>
          </a:solidFill>
          <a:ln w="12700" cap="sq">
            <a:solidFill>
              <a:schemeClr val="bg1">
                <a:lumMod val="95000"/>
              </a:schemeClr>
            </a:solidFill>
            <a:miter/>
          </a:ln>
          <a:effectLst>
            <a:outerShdw blurRad="228600" sx="98000" sy="98000" algn="ctr" rotWithShape="0">
              <a:schemeClr val="tx1">
                <a:lumMod val="75000"/>
                <a:lumOff val="25000"/>
                <a:alpha val="29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905200" y="1423361"/>
            <a:ext cx="3356463" cy="913439"/>
          </a:xfrm>
          <a:custGeom>
            <a:avLst/>
            <a:gdLst>
              <a:gd name="connsiteX0" fmla="*/ 104959 w 3483534"/>
              <a:gd name="connsiteY0" fmla="*/ 0 h 697102"/>
              <a:gd name="connsiteX1" fmla="*/ 3378575 w 3483534"/>
              <a:gd name="connsiteY1" fmla="*/ 0 h 697102"/>
              <a:gd name="connsiteX2" fmla="*/ 3483534 w 3483534"/>
              <a:gd name="connsiteY2" fmla="*/ 104959 h 697102"/>
              <a:gd name="connsiteX3" fmla="*/ 3483534 w 3483534"/>
              <a:gd name="connsiteY3" fmla="*/ 697102 h 697102"/>
              <a:gd name="connsiteX4" fmla="*/ 0 w 3483534"/>
              <a:gd name="connsiteY4" fmla="*/ 697102 h 697102"/>
              <a:gd name="connsiteX5" fmla="*/ 0 w 3483534"/>
              <a:gd name="connsiteY5" fmla="*/ 104959 h 697102"/>
              <a:gd name="connsiteX6" fmla="*/ 104959 w 3483534"/>
              <a:gd name="connsiteY6" fmla="*/ 0 h 697102"/>
            </a:gdLst>
            <a:ahLst/>
            <a:cxnLst/>
            <a:rect l="l" t="t" r="r" b="b"/>
            <a:pathLst>
              <a:path w="3483534" h="697102">
                <a:moveTo>
                  <a:pt x="104959" y="0"/>
                </a:moveTo>
                <a:lnTo>
                  <a:pt x="3378575" y="0"/>
                </a:lnTo>
                <a:cubicBezTo>
                  <a:pt x="3436542" y="0"/>
                  <a:pt x="3483534" y="46992"/>
                  <a:pt x="3483534" y="104959"/>
                </a:cubicBezTo>
                <a:lnTo>
                  <a:pt x="3483534" y="697102"/>
                </a:lnTo>
                <a:lnTo>
                  <a:pt x="0" y="697102"/>
                </a:lnTo>
                <a:lnTo>
                  <a:pt x="0" y="104959"/>
                </a:lnTo>
                <a:cubicBezTo>
                  <a:pt x="0" y="46992"/>
                  <a:pt x="46992" y="0"/>
                  <a:pt x="104959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098511" y="1503220"/>
            <a:ext cx="2954948" cy="7598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混淆矩阵分析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113013" y="4178629"/>
            <a:ext cx="2966236" cy="152367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本地模型的混淆矩阵显示分类准确率高，特别是对中性情感的识别效果显著提升。</a:t>
            </a:r>
            <a:endParaRPr kumimoji="1" lang="zh-CN" altLang="en-US"/>
          </a:p>
        </p:txBody>
      </p:sp>
      <p:cxnSp>
        <p:nvCxnSpPr>
          <p:cNvPr id="13" name="标题 1"/>
          <p:cNvCxnSpPr/>
          <p:nvPr/>
        </p:nvCxnSpPr>
        <p:spPr>
          <a:xfrm>
            <a:off x="7201913" y="4031846"/>
            <a:ext cx="2763036" cy="0"/>
          </a:xfrm>
          <a:prstGeom prst="line">
            <a:avLst/>
          </a:prstGeom>
          <a:noFill/>
          <a:ln w="12700" cap="rnd">
            <a:solidFill>
              <a:schemeClr val="accent1"/>
            </a:solidFill>
            <a:miter/>
          </a:ln>
        </p:spPr>
      </p:cxnSp>
      <p:sp>
        <p:nvSpPr>
          <p:cNvPr id="14" name="标题 1"/>
          <p:cNvSpPr txBox="1"/>
          <p:nvPr/>
        </p:nvSpPr>
        <p:spPr>
          <a:xfrm>
            <a:off x="7978577" y="2583928"/>
            <a:ext cx="1209710" cy="1209710"/>
          </a:xfrm>
          <a:prstGeom prst="ellipse">
            <a:avLst/>
          </a:prstGeom>
          <a:gradFill>
            <a:gsLst>
              <a:gs pos="23000">
                <a:schemeClr val="bg1"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blurRad="114300" dist="38100" dir="2700000" algn="tl" rotWithShape="0">
              <a:schemeClr val="tx1">
                <a:lumMod val="75000"/>
                <a:lumOff val="25000"/>
                <a:alpha val="22000"/>
              </a:schemeClr>
            </a:outerShdw>
          </a:effectLst>
        </p:spPr>
        <p:txBody>
          <a:bodyPr vert="horz"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3390391" y="2954121"/>
            <a:ext cx="410955" cy="469324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348770" y="2976035"/>
            <a:ext cx="469324" cy="425496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0" y="5988601"/>
            <a:ext cx="12192000" cy="710536"/>
          </a:xfrm>
          <a:custGeom>
            <a:avLst/>
            <a:gdLst>
              <a:gd name="connsiteX0" fmla="*/ 0 w 12192000"/>
              <a:gd name="connsiteY0" fmla="*/ 0 h 2548005"/>
              <a:gd name="connsiteX1" fmla="*/ 168614 w 12192000"/>
              <a:gd name="connsiteY1" fmla="*/ 119903 h 2548005"/>
              <a:gd name="connsiteX2" fmla="*/ 6096001 w 12192000"/>
              <a:gd name="connsiteY2" fmla="*/ 1930469 h 2548005"/>
              <a:gd name="connsiteX3" fmla="*/ 12023389 w 12192000"/>
              <a:gd name="connsiteY3" fmla="*/ 119903 h 2548005"/>
              <a:gd name="connsiteX4" fmla="*/ 12192000 w 12192000"/>
              <a:gd name="connsiteY4" fmla="*/ 1 h 2548005"/>
              <a:gd name="connsiteX5" fmla="*/ 12192000 w 12192000"/>
              <a:gd name="connsiteY5" fmla="*/ 2548005 h 2548005"/>
              <a:gd name="connsiteX6" fmla="*/ 0 w 12192000"/>
              <a:gd name="connsiteY6" fmla="*/ 2548005 h 2548005"/>
            </a:gdLst>
            <a:ahLst/>
            <a:cxnLst/>
            <a:rect l="l" t="t" r="r" b="b"/>
            <a:pathLst>
              <a:path w="12192000" h="2548005">
                <a:moveTo>
                  <a:pt x="0" y="0"/>
                </a:moveTo>
                <a:lnTo>
                  <a:pt x="168614" y="119903"/>
                </a:lnTo>
                <a:cubicBezTo>
                  <a:pt x="1860621" y="1263000"/>
                  <a:pt x="3900363" y="1930469"/>
                  <a:pt x="6096001" y="1930469"/>
                </a:cubicBezTo>
                <a:cubicBezTo>
                  <a:pt x="8291639" y="1930469"/>
                  <a:pt x="10331382" y="1263000"/>
                  <a:pt x="12023389" y="119903"/>
                </a:cubicBezTo>
                <a:lnTo>
                  <a:pt x="12192000" y="1"/>
                </a:lnTo>
                <a:lnTo>
                  <a:pt x="12192000" y="2548005"/>
                </a:lnTo>
                <a:lnTo>
                  <a:pt x="0" y="254800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0" y="6149231"/>
            <a:ext cx="12192000" cy="710537"/>
          </a:xfrm>
          <a:custGeom>
            <a:avLst/>
            <a:gdLst>
              <a:gd name="connsiteX0" fmla="*/ 0 w 12192000"/>
              <a:gd name="connsiteY0" fmla="*/ 0 h 2548005"/>
              <a:gd name="connsiteX1" fmla="*/ 168614 w 12192000"/>
              <a:gd name="connsiteY1" fmla="*/ 119903 h 2548005"/>
              <a:gd name="connsiteX2" fmla="*/ 6096001 w 12192000"/>
              <a:gd name="connsiteY2" fmla="*/ 1930469 h 2548005"/>
              <a:gd name="connsiteX3" fmla="*/ 12023389 w 12192000"/>
              <a:gd name="connsiteY3" fmla="*/ 119903 h 2548005"/>
              <a:gd name="connsiteX4" fmla="*/ 12192000 w 12192000"/>
              <a:gd name="connsiteY4" fmla="*/ 1 h 2548005"/>
              <a:gd name="connsiteX5" fmla="*/ 12192000 w 12192000"/>
              <a:gd name="connsiteY5" fmla="*/ 2548005 h 2548005"/>
              <a:gd name="connsiteX6" fmla="*/ 0 w 12192000"/>
              <a:gd name="connsiteY6" fmla="*/ 2548005 h 2548005"/>
            </a:gdLst>
            <a:ahLst/>
            <a:cxnLst/>
            <a:rect l="l" t="t" r="r" b="b"/>
            <a:pathLst>
              <a:path w="12192000" h="2548005">
                <a:moveTo>
                  <a:pt x="0" y="0"/>
                </a:moveTo>
                <a:lnTo>
                  <a:pt x="168614" y="119903"/>
                </a:lnTo>
                <a:cubicBezTo>
                  <a:pt x="1860621" y="1263000"/>
                  <a:pt x="3900363" y="1930469"/>
                  <a:pt x="6096001" y="1930469"/>
                </a:cubicBezTo>
                <a:cubicBezTo>
                  <a:pt x="8291639" y="1930469"/>
                  <a:pt x="10331382" y="1263000"/>
                  <a:pt x="12023389" y="119903"/>
                </a:cubicBezTo>
                <a:lnTo>
                  <a:pt x="12192000" y="1"/>
                </a:lnTo>
                <a:lnTo>
                  <a:pt x="12192000" y="2548005"/>
                </a:lnTo>
                <a:lnTo>
                  <a:pt x="0" y="2548005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53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10800000" scaled="0"/>
          </a:gra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007545" y="210957"/>
            <a:ext cx="10696755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本地模型评估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82743" y="334905"/>
            <a:ext cx="218940" cy="218940"/>
          </a:xfrm>
          <a:prstGeom prst="chevr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487699" y="334905"/>
            <a:ext cx="218940" cy="21894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92654" y="334905"/>
            <a:ext cx="218940" cy="21894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blipFill>
            <a:blip r:embed="rId1"/>
            <a:srcRect/>
            <a:stretch>
              <a:fillRect l="-164" r="-164"/>
            </a:stretch>
          </a:blip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bg1">
              <a:alpha val="92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4" name="标题 1"/>
          <p:cNvSpPr txBox="1"/>
          <p:nvPr/>
        </p:nvSpPr>
        <p:spPr>
          <a:xfrm rot="3172644">
            <a:off x="1879916" y="1518209"/>
            <a:ext cx="672025" cy="672025"/>
          </a:xfrm>
          <a:prstGeom prst="ellipse">
            <a:avLst/>
          </a:prstGeom>
          <a:gradFill>
            <a:gsLst>
              <a:gs pos="9000">
                <a:schemeClr val="accent4">
                  <a:lumMod val="40000"/>
                  <a:lumOff val="60000"/>
                  <a:alpha val="80000"/>
                </a:schemeClr>
              </a:gs>
              <a:gs pos="100000">
                <a:schemeClr val="bg1">
                  <a:alpha val="7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1" y="4800602"/>
            <a:ext cx="5844209" cy="2064024"/>
          </a:xfrm>
          <a:custGeom>
            <a:avLst/>
            <a:gdLst>
              <a:gd name="connsiteX0" fmla="*/ 0 w 3095538"/>
              <a:gd name="connsiteY0" fmla="*/ 181103 h 1093264"/>
              <a:gd name="connsiteX1" fmla="*/ 1761689 w 3095538"/>
              <a:gd name="connsiteY1" fmla="*/ 546023 h 1093264"/>
              <a:gd name="connsiteX2" fmla="*/ 3095538 w 3095538"/>
              <a:gd name="connsiteY2" fmla="*/ 1093264 h 1093264"/>
              <a:gd name="connsiteX3" fmla="*/ 0 w 3095538"/>
              <a:gd name="connsiteY3" fmla="*/ 1093264 h 1093264"/>
              <a:gd name="connsiteX4" fmla="*/ 0 w 3095538"/>
              <a:gd name="connsiteY4" fmla="*/ 181103 h 1093264"/>
              <a:gd name="connsiteX5" fmla="*/ 0 w 3095538"/>
              <a:gd name="connsiteY5" fmla="*/ 184030 h 1096191"/>
            </a:gdLst>
            <a:ahLst/>
            <a:cxnLst/>
            <a:rect l="l" t="t" r="r" b="b"/>
            <a:pathLst>
              <a:path w="3095538" h="1093264">
                <a:moveTo>
                  <a:pt x="0" y="181103"/>
                </a:moveTo>
                <a:cubicBezTo>
                  <a:pt x="664128" y="-313847"/>
                  <a:pt x="1395369" y="340493"/>
                  <a:pt x="1761689" y="546023"/>
                </a:cubicBezTo>
                <a:cubicBezTo>
                  <a:pt x="2270621" y="847281"/>
                  <a:pt x="2599190" y="1043676"/>
                  <a:pt x="3095538" y="1093264"/>
                </a:cubicBezTo>
                <a:lnTo>
                  <a:pt x="0" y="1093264"/>
                </a:lnTo>
                <a:lnTo>
                  <a:pt x="0" y="18110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83000"/>
                </a:schemeClr>
              </a:gs>
              <a:gs pos="92000">
                <a:schemeClr val="accent2">
                  <a:alpha val="7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3760697"/>
            <a:ext cx="1826546" cy="3103929"/>
          </a:xfrm>
          <a:custGeom>
            <a:avLst/>
            <a:gdLst>
              <a:gd name="connsiteX0" fmla="*/ 0 w 1098373"/>
              <a:gd name="connsiteY0" fmla="*/ 411206 h 1732006"/>
              <a:gd name="connsiteX1" fmla="*/ 996333 w 1098373"/>
              <a:gd name="connsiteY1" fmla="*/ 79840 h 1732006"/>
              <a:gd name="connsiteX2" fmla="*/ 903120 w 1098373"/>
              <a:gd name="connsiteY2" fmla="*/ 740149 h 1732006"/>
              <a:gd name="connsiteX3" fmla="*/ 975360 w 1098373"/>
              <a:gd name="connsiteY3" fmla="*/ 1732006 h 1732006"/>
              <a:gd name="connsiteX4" fmla="*/ 0 w 1098373"/>
              <a:gd name="connsiteY4" fmla="*/ 1732006 h 1732006"/>
              <a:gd name="connsiteX5" fmla="*/ 0 w 1098373"/>
              <a:gd name="connsiteY5" fmla="*/ 411206 h 1732006"/>
            </a:gdLst>
            <a:ahLst/>
            <a:cxnLst/>
            <a:rect l="l" t="t" r="r" b="b"/>
            <a:pathLst>
              <a:path w="1098373" h="1732006">
                <a:moveTo>
                  <a:pt x="0" y="411206"/>
                </a:moveTo>
                <a:cubicBezTo>
                  <a:pt x="374056" y="-51587"/>
                  <a:pt x="832002" y="-61375"/>
                  <a:pt x="996333" y="79840"/>
                </a:cubicBezTo>
                <a:cubicBezTo>
                  <a:pt x="1185303" y="262595"/>
                  <a:pt x="1086978" y="569651"/>
                  <a:pt x="903120" y="740149"/>
                </a:cubicBezTo>
                <a:cubicBezTo>
                  <a:pt x="446620" y="1149733"/>
                  <a:pt x="426099" y="1564600"/>
                  <a:pt x="975360" y="1732006"/>
                </a:cubicBezTo>
                <a:lnTo>
                  <a:pt x="0" y="1732006"/>
                </a:lnTo>
                <a:lnTo>
                  <a:pt x="0" y="41120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9000"/>
                </a:schemeClr>
              </a:gs>
              <a:gs pos="100000">
                <a:schemeClr val="accent2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408950" y="-6626"/>
            <a:ext cx="4783050" cy="1477215"/>
          </a:xfrm>
          <a:custGeom>
            <a:avLst/>
            <a:gdLst>
              <a:gd name="connsiteX0" fmla="*/ 462410 w 2811328"/>
              <a:gd name="connsiteY0" fmla="*/ 0 h 868261"/>
              <a:gd name="connsiteX1" fmla="*/ 2811328 w 2811328"/>
              <a:gd name="connsiteY1" fmla="*/ 0 h 868261"/>
              <a:gd name="connsiteX2" fmla="*/ 2811328 w 2811328"/>
              <a:gd name="connsiteY2" fmla="*/ 868261 h 868261"/>
              <a:gd name="connsiteX3" fmla="*/ 982529 w 2811328"/>
              <a:gd name="connsiteY3" fmla="*/ 683703 h 868261"/>
              <a:gd name="connsiteX4" fmla="*/ 5210 w 2811328"/>
              <a:gd name="connsiteY4" fmla="*/ 654342 h 868261"/>
              <a:gd name="connsiteX5" fmla="*/ 462410 w 2811328"/>
              <a:gd name="connsiteY5" fmla="*/ 0 h 868261"/>
            </a:gdLst>
            <a:ahLst/>
            <a:cxnLst/>
            <a:rect l="l" t="t" r="r" b="b"/>
            <a:pathLst>
              <a:path w="2811328" h="868261">
                <a:moveTo>
                  <a:pt x="462410" y="0"/>
                </a:moveTo>
                <a:lnTo>
                  <a:pt x="2811328" y="0"/>
                </a:lnTo>
                <a:lnTo>
                  <a:pt x="2811328" y="868261"/>
                </a:lnTo>
                <a:cubicBezTo>
                  <a:pt x="2345739" y="308995"/>
                  <a:pt x="1153804" y="650846"/>
                  <a:pt x="982529" y="683703"/>
                </a:cubicBezTo>
                <a:cubicBezTo>
                  <a:pt x="404388" y="854978"/>
                  <a:pt x="58280" y="883459"/>
                  <a:pt x="5210" y="654342"/>
                </a:cubicBezTo>
                <a:cubicBezTo>
                  <a:pt x="-46523" y="236290"/>
                  <a:pt x="300222" y="78298"/>
                  <a:pt x="4624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alpha val="8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0193345" y="-6625"/>
            <a:ext cx="1998655" cy="3533484"/>
          </a:xfrm>
          <a:custGeom>
            <a:avLst/>
            <a:gdLst>
              <a:gd name="connsiteX0" fmla="*/ 155567 w 1095134"/>
              <a:gd name="connsiteY0" fmla="*/ 0 h 1738370"/>
              <a:gd name="connsiteX1" fmla="*/ 1095134 w 1095134"/>
              <a:gd name="connsiteY1" fmla="*/ 0 h 1738370"/>
              <a:gd name="connsiteX2" fmla="*/ 1095134 w 1095134"/>
              <a:gd name="connsiteY2" fmla="*/ 1342239 h 1738370"/>
              <a:gd name="connsiteX3" fmla="*/ 109427 w 1095134"/>
              <a:gd name="connsiteY3" fmla="*/ 1665214 h 1738370"/>
              <a:gd name="connsiteX4" fmla="*/ 541465 w 1095134"/>
              <a:gd name="connsiteY4" fmla="*/ 503339 h 1738370"/>
              <a:gd name="connsiteX5" fmla="*/ 155567 w 1095134"/>
              <a:gd name="connsiteY5" fmla="*/ 0 h 1738370"/>
            </a:gdLst>
            <a:ahLst/>
            <a:cxnLst/>
            <a:rect l="l" t="t" r="r" b="b"/>
            <a:pathLst>
              <a:path w="1095134" h="1738369">
                <a:moveTo>
                  <a:pt x="155567" y="0"/>
                </a:moveTo>
                <a:lnTo>
                  <a:pt x="1095134" y="0"/>
                </a:lnTo>
                <a:lnTo>
                  <a:pt x="1095134" y="1342239"/>
                </a:lnTo>
                <a:cubicBezTo>
                  <a:pt x="556841" y="1856764"/>
                  <a:pt x="203105" y="1754697"/>
                  <a:pt x="109427" y="1665214"/>
                </a:cubicBezTo>
                <a:cubicBezTo>
                  <a:pt x="-278562" y="1249260"/>
                  <a:pt x="485538" y="824916"/>
                  <a:pt x="541465" y="503339"/>
                </a:cubicBezTo>
                <a:cubicBezTo>
                  <a:pt x="572225" y="257262"/>
                  <a:pt x="363196" y="109756"/>
                  <a:pt x="155567" y="0"/>
                </a:cubicBezTo>
                <a:close/>
              </a:path>
            </a:pathLst>
          </a:custGeom>
          <a:gradFill>
            <a:gsLst>
              <a:gs pos="13000">
                <a:schemeClr val="accent1">
                  <a:alpha val="70000"/>
                </a:schemeClr>
              </a:gs>
              <a:gs pos="56000">
                <a:schemeClr val="accent1">
                  <a:alpha val="4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1120120" y="1239520"/>
            <a:ext cx="1071880" cy="4781550"/>
          </a:xfrm>
          <a:custGeom>
            <a:avLst/>
            <a:gdLst>
              <a:gd name="connsiteX0" fmla="*/ 2562 w 470947"/>
              <a:gd name="connsiteY0" fmla="*/ 541090 h 1937857"/>
              <a:gd name="connsiteX1" fmla="*/ 470947 w 470947"/>
              <a:gd name="connsiteY1" fmla="*/ 0 h 1937857"/>
              <a:gd name="connsiteX2" fmla="*/ 470947 w 470947"/>
              <a:gd name="connsiteY2" fmla="*/ 1937857 h 1937857"/>
              <a:gd name="connsiteX3" fmla="*/ 2562 w 470947"/>
              <a:gd name="connsiteY3" fmla="*/ 541090 h 1937857"/>
              <a:gd name="connsiteX4" fmla="*/ 2562 w 470947"/>
              <a:gd name="connsiteY4" fmla="*/ 541090 h 1937857"/>
            </a:gdLst>
            <a:ahLst/>
            <a:cxnLst/>
            <a:rect l="l" t="t" r="r" b="b"/>
            <a:pathLst>
              <a:path w="470947" h="1937857">
                <a:moveTo>
                  <a:pt x="2562" y="541090"/>
                </a:moveTo>
                <a:cubicBezTo>
                  <a:pt x="-34257" y="142614"/>
                  <a:pt x="335792" y="33555"/>
                  <a:pt x="470947" y="0"/>
                </a:cubicBezTo>
                <a:lnTo>
                  <a:pt x="470947" y="1937857"/>
                </a:lnTo>
                <a:cubicBezTo>
                  <a:pt x="453237" y="1279321"/>
                  <a:pt x="74800" y="985706"/>
                  <a:pt x="2562" y="54109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85000">
                <a:schemeClr val="accent2"/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51176" y="3262121"/>
            <a:ext cx="971224" cy="971224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1000">
                <a:schemeClr val="accent1">
                  <a:alpha val="22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285431" y="201326"/>
            <a:ext cx="596569" cy="596569"/>
          </a:xfrm>
          <a:prstGeom prst="ellipse">
            <a:avLst/>
          </a:prstGeom>
          <a:gradFill>
            <a:gsLst>
              <a:gs pos="0">
                <a:schemeClr val="accent2"/>
              </a:gs>
              <a:gs pos="81000">
                <a:schemeClr val="accent1">
                  <a:alpha val="47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172120" y="5862182"/>
            <a:ext cx="386558" cy="386558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  <a:alpha val="13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1369984" y="4043547"/>
            <a:ext cx="596569" cy="59656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  <a:alpha val="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0029423" y="1084105"/>
            <a:ext cx="307272" cy="307272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  <a:alpha val="1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728224" y="6279365"/>
            <a:ext cx="1008113" cy="338628"/>
          </a:xfrm>
          <a:custGeom>
            <a:avLst/>
            <a:gdLst>
              <a:gd name="connsiteX0" fmla="*/ 415276 w 3541187"/>
              <a:gd name="connsiteY0" fmla="*/ 0 h 415276"/>
              <a:gd name="connsiteX1" fmla="*/ 0 w 3541187"/>
              <a:gd name="connsiteY1" fmla="*/ 0 h 415276"/>
              <a:gd name="connsiteX2" fmla="*/ 0 w 3541187"/>
              <a:gd name="connsiteY2" fmla="*/ 415276 h 415276"/>
              <a:gd name="connsiteX3" fmla="*/ 415276 w 3541187"/>
              <a:gd name="connsiteY3" fmla="*/ 415276 h 415276"/>
              <a:gd name="connsiteX4" fmla="*/ 1184675 w 3541187"/>
              <a:gd name="connsiteY4" fmla="*/ 0 h 415276"/>
              <a:gd name="connsiteX5" fmla="*/ 769399 w 3541187"/>
              <a:gd name="connsiteY5" fmla="*/ 0 h 415276"/>
              <a:gd name="connsiteX6" fmla="*/ 769399 w 3541187"/>
              <a:gd name="connsiteY6" fmla="*/ 415276 h 415276"/>
              <a:gd name="connsiteX7" fmla="*/ 1184675 w 3541187"/>
              <a:gd name="connsiteY7" fmla="*/ 415276 h 415276"/>
              <a:gd name="connsiteX8" fmla="*/ 1954074 w 3541187"/>
              <a:gd name="connsiteY8" fmla="*/ 0 h 415276"/>
              <a:gd name="connsiteX9" fmla="*/ 1538798 w 3541187"/>
              <a:gd name="connsiteY9" fmla="*/ 0 h 415276"/>
              <a:gd name="connsiteX10" fmla="*/ 1538798 w 3541187"/>
              <a:gd name="connsiteY10" fmla="*/ 415276 h 415276"/>
              <a:gd name="connsiteX11" fmla="*/ 1954074 w 3541187"/>
              <a:gd name="connsiteY11" fmla="*/ 415276 h 415276"/>
              <a:gd name="connsiteX12" fmla="*/ 2771788 w 3541187"/>
              <a:gd name="connsiteY12" fmla="*/ 0 h 415276"/>
              <a:gd name="connsiteX13" fmla="*/ 2356512 w 3541187"/>
              <a:gd name="connsiteY13" fmla="*/ 0 h 415276"/>
              <a:gd name="connsiteX14" fmla="*/ 2356512 w 3541187"/>
              <a:gd name="connsiteY14" fmla="*/ 415276 h 415276"/>
              <a:gd name="connsiteX15" fmla="*/ 2771788 w 3541187"/>
              <a:gd name="connsiteY15" fmla="*/ 415276 h 415276"/>
              <a:gd name="connsiteX16" fmla="*/ 3541187 w 3541187"/>
              <a:gd name="connsiteY16" fmla="*/ 0 h 415276"/>
              <a:gd name="connsiteX17" fmla="*/ 3125911 w 3541187"/>
              <a:gd name="connsiteY17" fmla="*/ 0 h 415276"/>
              <a:gd name="connsiteX18" fmla="*/ 3125911 w 3541187"/>
              <a:gd name="connsiteY18" fmla="*/ 415276 h 415276"/>
              <a:gd name="connsiteX19" fmla="*/ 3541187 w 3541187"/>
              <a:gd name="connsiteY19" fmla="*/ 415276 h 415276"/>
            </a:gdLst>
            <a:ahLst/>
            <a:cxnLst/>
            <a:rect l="l" t="t" r="r" b="b"/>
            <a:pathLst>
              <a:path w="3541187" h="415276">
                <a:moveTo>
                  <a:pt x="415276" y="0"/>
                </a:moveTo>
                <a:lnTo>
                  <a:pt x="0" y="0"/>
                </a:lnTo>
                <a:lnTo>
                  <a:pt x="0" y="415276"/>
                </a:lnTo>
                <a:lnTo>
                  <a:pt x="415276" y="415276"/>
                </a:lnTo>
                <a:close/>
                <a:moveTo>
                  <a:pt x="1184675" y="0"/>
                </a:moveTo>
                <a:lnTo>
                  <a:pt x="769399" y="0"/>
                </a:lnTo>
                <a:lnTo>
                  <a:pt x="769399" y="415276"/>
                </a:lnTo>
                <a:lnTo>
                  <a:pt x="1184675" y="415276"/>
                </a:lnTo>
                <a:close/>
                <a:moveTo>
                  <a:pt x="1954074" y="0"/>
                </a:moveTo>
                <a:lnTo>
                  <a:pt x="1538798" y="0"/>
                </a:lnTo>
                <a:lnTo>
                  <a:pt x="1538798" y="415276"/>
                </a:lnTo>
                <a:lnTo>
                  <a:pt x="1954074" y="415276"/>
                </a:lnTo>
                <a:close/>
                <a:moveTo>
                  <a:pt x="2771788" y="0"/>
                </a:moveTo>
                <a:lnTo>
                  <a:pt x="2356512" y="0"/>
                </a:lnTo>
                <a:lnTo>
                  <a:pt x="2356512" y="415276"/>
                </a:lnTo>
                <a:lnTo>
                  <a:pt x="2771788" y="415276"/>
                </a:lnTo>
                <a:close/>
                <a:moveTo>
                  <a:pt x="3541187" y="0"/>
                </a:moveTo>
                <a:lnTo>
                  <a:pt x="3125911" y="0"/>
                </a:lnTo>
                <a:lnTo>
                  <a:pt x="3125911" y="415276"/>
                </a:lnTo>
                <a:lnTo>
                  <a:pt x="3541187" y="41527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7" name="标题 1"/>
          <p:cNvCxnSpPr/>
          <p:nvPr/>
        </p:nvCxnSpPr>
        <p:spPr>
          <a:xfrm flipH="1" flipV="1">
            <a:off x="6297525" y="6445403"/>
            <a:ext cx="4104189" cy="6553"/>
          </a:xfrm>
          <a:prstGeom prst="line">
            <a:avLst/>
          </a:prstGeom>
          <a:noFill/>
          <a:ln w="19050" cap="sq">
            <a:solidFill>
              <a:schemeClr val="accent1">
                <a:lumMod val="60000"/>
                <a:lumOff val="40000"/>
              </a:schemeClr>
            </a:solidFill>
            <a:prstDash val="solid"/>
            <a:miter/>
            <a:headEnd type="oval" w="lg" len="lg"/>
            <a:tailEnd type="oval" w="lg" len="lg"/>
          </a:ln>
        </p:spPr>
      </p:cxnSp>
      <p:sp>
        <p:nvSpPr>
          <p:cNvPr id="18" name="标题 1"/>
          <p:cNvSpPr txBox="1"/>
          <p:nvPr/>
        </p:nvSpPr>
        <p:spPr>
          <a:xfrm flipV="1">
            <a:off x="3072680" y="589809"/>
            <a:ext cx="3636286" cy="53470"/>
          </a:xfrm>
          <a:custGeom>
            <a:avLst/>
            <a:gdLst>
              <a:gd name="connsiteX0" fmla="*/ 0 w 3636286"/>
              <a:gd name="connsiteY0" fmla="*/ 94727 h 94727"/>
              <a:gd name="connsiteX1" fmla="*/ 3419713 w 3636286"/>
              <a:gd name="connsiteY1" fmla="*/ 94727 h 94727"/>
              <a:gd name="connsiteX2" fmla="*/ 3528000 w 3636286"/>
              <a:gd name="connsiteY2" fmla="*/ 94727 h 94727"/>
              <a:gd name="connsiteX3" fmla="*/ 3636286 w 3636286"/>
              <a:gd name="connsiteY3" fmla="*/ 94727 h 94727"/>
              <a:gd name="connsiteX4" fmla="*/ 3419713 w 3636286"/>
              <a:gd name="connsiteY4" fmla="*/ 0 h 94727"/>
              <a:gd name="connsiteX5" fmla="*/ 3419713 w 3636286"/>
              <a:gd name="connsiteY5" fmla="*/ 58727 h 94727"/>
              <a:gd name="connsiteX6" fmla="*/ 0 w 3636286"/>
              <a:gd name="connsiteY6" fmla="*/ 58727 h 94727"/>
            </a:gdLst>
            <a:ahLst/>
            <a:cxnLst/>
            <a:rect l="l" t="t" r="r" b="b"/>
            <a:pathLst>
              <a:path w="3636286" h="94727">
                <a:moveTo>
                  <a:pt x="0" y="94727"/>
                </a:moveTo>
                <a:lnTo>
                  <a:pt x="3419713" y="94727"/>
                </a:lnTo>
                <a:lnTo>
                  <a:pt x="3528000" y="94727"/>
                </a:lnTo>
                <a:lnTo>
                  <a:pt x="3636286" y="94727"/>
                </a:lnTo>
                <a:lnTo>
                  <a:pt x="3419713" y="0"/>
                </a:lnTo>
                <a:lnTo>
                  <a:pt x="3419713" y="58727"/>
                </a:lnTo>
                <a:lnTo>
                  <a:pt x="0" y="5872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860441" y="2637194"/>
            <a:ext cx="6470241" cy="21632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5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结果对比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3693196" y="5023485"/>
            <a:ext cx="4805608" cy="473593"/>
          </a:xfrm>
          <a:custGeom>
            <a:avLst/>
            <a:gdLst>
              <a:gd name="T0" fmla="*/ 563 w 646"/>
              <a:gd name="T1" fmla="*/ 208 h 208"/>
              <a:gd name="T2" fmla="*/ 23 w 646"/>
              <a:gd name="T3" fmla="*/ 208 h 208"/>
              <a:gd name="T4" fmla="*/ 5 w 646"/>
              <a:gd name="T5" fmla="*/ 182 h 208"/>
              <a:gd name="T6" fmla="*/ 50 w 646"/>
              <a:gd name="T7" fmla="*/ 27 h 208"/>
              <a:gd name="T8" fmla="*/ 83 w 646"/>
              <a:gd name="T9" fmla="*/ 0 h 208"/>
              <a:gd name="T10" fmla="*/ 623 w 646"/>
              <a:gd name="T11" fmla="*/ 0 h 208"/>
              <a:gd name="T12" fmla="*/ 642 w 646"/>
              <a:gd name="T13" fmla="*/ 27 h 208"/>
              <a:gd name="T14" fmla="*/ 597 w 646"/>
              <a:gd name="T15" fmla="*/ 182 h 208"/>
              <a:gd name="T16" fmla="*/ 563 w 646"/>
              <a:gd name="T17" fmla="*/ 208 h 208"/>
            </a:gdLst>
            <a:ahLst/>
            <a:cxnLst/>
            <a:rect l="0" t="0" r="r" b="b"/>
            <a:pathLst>
              <a:path w="646" h="208">
                <a:moveTo>
                  <a:pt x="563" y="208"/>
                </a:moveTo>
                <a:cubicBezTo>
                  <a:pt x="23" y="208"/>
                  <a:pt x="23" y="208"/>
                  <a:pt x="23" y="208"/>
                </a:cubicBezTo>
                <a:cubicBezTo>
                  <a:pt x="9" y="208"/>
                  <a:pt x="0" y="196"/>
                  <a:pt x="5" y="182"/>
                </a:cubicBezTo>
                <a:cubicBezTo>
                  <a:pt x="50" y="27"/>
                  <a:pt x="50" y="27"/>
                  <a:pt x="50" y="27"/>
                </a:cubicBezTo>
                <a:cubicBezTo>
                  <a:pt x="54" y="12"/>
                  <a:pt x="69" y="0"/>
                  <a:pt x="83" y="0"/>
                </a:cubicBezTo>
                <a:cubicBezTo>
                  <a:pt x="623" y="0"/>
                  <a:pt x="623" y="0"/>
                  <a:pt x="623" y="0"/>
                </a:cubicBezTo>
                <a:cubicBezTo>
                  <a:pt x="638" y="0"/>
                  <a:pt x="646" y="12"/>
                  <a:pt x="642" y="27"/>
                </a:cubicBezTo>
                <a:cubicBezTo>
                  <a:pt x="597" y="182"/>
                  <a:pt x="597" y="182"/>
                  <a:pt x="597" y="182"/>
                </a:cubicBezTo>
                <a:cubicBezTo>
                  <a:pt x="593" y="196"/>
                  <a:pt x="578" y="208"/>
                  <a:pt x="563" y="208"/>
                </a:cubicBezTo>
                <a:close/>
              </a:path>
            </a:pathLst>
          </a:custGeom>
          <a:gradFill>
            <a:gsLst>
              <a:gs pos="25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20000"/>
                  <a:lumOff val="80000"/>
                  <a:alpha val="11000"/>
                </a:schemeClr>
              </a:gs>
            </a:gsLst>
            <a:lin ang="18900000" scaled="0"/>
          </a:gradFill>
          <a:ln w="12700" cap="sq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4331862" y="5118254"/>
            <a:ext cx="3549866" cy="2840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gradFill>
                  <a:gsLst>
                    <a:gs pos="13000">
                      <a:srgbClr val="0C6BFF">
                        <a:alpha val="100000"/>
                      </a:srgbClr>
                    </a:gs>
                    <a:gs pos="90000">
                      <a:srgbClr val="9EC4FF">
                        <a:alpha val="100000"/>
                      </a:srgbClr>
                    </a:gs>
                  </a:gsLst>
                  <a:lin ang="5400000" scaled="0"/>
                </a:gra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POWERPOINT DESIGN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4148161" y="1751568"/>
            <a:ext cx="2082800" cy="8275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5400">
                <a:ln w="12700">
                  <a:noFill/>
                </a:ln>
                <a:gradFill>
                  <a:gsLst>
                    <a:gs pos="19000">
                      <a:srgbClr val="0C6BFF">
                        <a:alpha val="100000"/>
                      </a:srgbClr>
                    </a:gs>
                    <a:gs pos="83000">
                      <a:srgbClr val="0165FF">
                        <a:alpha val="10000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PART.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671770" y="646668"/>
            <a:ext cx="1194270" cy="19324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5400">
                <a:ln w="12700">
                  <a:noFill/>
                </a:ln>
                <a:gradFill>
                  <a:gsLst>
                    <a:gs pos="19000">
                      <a:srgbClr val="0C6BFF">
                        <a:alpha val="100000"/>
                      </a:srgbClr>
                    </a:gs>
                    <a:gs pos="83000">
                      <a:srgbClr val="0165FF">
                        <a:alpha val="10000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04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4761" y="0"/>
            <a:ext cx="12196761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  <a:p>
            <a:pPr algn="ctr">
              <a:lnSpc>
                <a:spcPct val="110000"/>
              </a:lnSpc>
            </a:pPr>
            <a:r>
              <a:rPr kumimoji="1" lang="zh-CN" altLang="en-US"/>
              <a:t> </a:t>
            </a: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2412" y="5826078"/>
            <a:ext cx="12248030" cy="1031922"/>
          </a:xfrm>
          <a:custGeom>
            <a:avLst/>
            <a:gdLst>
              <a:gd name="connsiteX0" fmla="*/ 0 w 12191999"/>
              <a:gd name="connsiteY0" fmla="*/ 0 h 1031906"/>
              <a:gd name="connsiteX1" fmla="*/ 97612 w 12191999"/>
              <a:gd name="connsiteY1" fmla="*/ 51085 h 1031906"/>
              <a:gd name="connsiteX2" fmla="*/ 6108700 w 12191999"/>
              <a:gd name="connsiteY2" fmla="*/ 925606 h 1031906"/>
              <a:gd name="connsiteX3" fmla="*/ 12119789 w 12191999"/>
              <a:gd name="connsiteY3" fmla="*/ 51085 h 1031906"/>
              <a:gd name="connsiteX4" fmla="*/ 12191999 w 12191999"/>
              <a:gd name="connsiteY4" fmla="*/ 13293 h 1031906"/>
              <a:gd name="connsiteX5" fmla="*/ 12191999 w 12191999"/>
              <a:gd name="connsiteY5" fmla="*/ 1031906 h 1031906"/>
              <a:gd name="connsiteX6" fmla="*/ 0 w 12191999"/>
              <a:gd name="connsiteY6" fmla="*/ 1031906 h 1031906"/>
            </a:gdLst>
            <a:ahLst/>
            <a:cxnLst/>
            <a:rect l="l" t="t" r="r" b="b"/>
            <a:pathLst>
              <a:path w="12191999" h="1031906">
                <a:moveTo>
                  <a:pt x="0" y="0"/>
                </a:moveTo>
                <a:lnTo>
                  <a:pt x="97612" y="51085"/>
                </a:lnTo>
                <a:cubicBezTo>
                  <a:pt x="1195312" y="569402"/>
                  <a:pt x="3474728" y="925606"/>
                  <a:pt x="6108700" y="925606"/>
                </a:cubicBezTo>
                <a:cubicBezTo>
                  <a:pt x="8742672" y="925606"/>
                  <a:pt x="11022088" y="569402"/>
                  <a:pt x="12119789" y="51085"/>
                </a:cubicBezTo>
                <a:lnTo>
                  <a:pt x="12191999" y="13293"/>
                </a:lnTo>
                <a:lnTo>
                  <a:pt x="12191999" y="1031906"/>
                </a:lnTo>
                <a:lnTo>
                  <a:pt x="0" y="1031906"/>
                </a:lnTo>
                <a:close/>
              </a:path>
            </a:pathLst>
          </a:custGeom>
          <a:solidFill>
            <a:schemeClr val="accent1"/>
          </a:solidFill>
          <a:ln w="254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1034" y="3020606"/>
            <a:ext cx="5306722" cy="29731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本地模型的准确率（0.9208）显著高于分布式模型（0.7620），显示出更好的分类性能。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0400" y="2526089"/>
            <a:ext cx="5306720" cy="43882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211543" y="2964725"/>
            <a:ext cx="5306722" cy="29731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本地模型的损失（0.2688）远低于分布式模型（0.6684），表明模型拟合效果更好。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212178" y="2526088"/>
            <a:ext cx="5306722" cy="43882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78141" y="2526090"/>
            <a:ext cx="5071239" cy="438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准确率对比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332828" y="2526089"/>
            <a:ext cx="5065422" cy="438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损失对比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953760" y="1707253"/>
            <a:ext cx="720000" cy="72000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1"/>
            </a:solidFill>
            <a:miter/>
          </a:ln>
          <a:effectLst>
            <a:outerShdw blurRad="952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22860" tIns="22860" rIns="22860" bIns="22860" rtlCol="0" anchor="ctr"/>
          <a:lstStyle/>
          <a:p>
            <a:pPr algn="ctr">
              <a:lnSpc>
                <a:spcPct val="15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505540" y="1749194"/>
            <a:ext cx="720000" cy="720000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1"/>
            </a:solidFill>
            <a:miter/>
          </a:ln>
          <a:effectLst>
            <a:outerShdw blurRad="952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22860" tIns="22860" rIns="22860" bIns="22860" rtlCol="0" anchor="ctr"/>
          <a:lstStyle/>
          <a:p>
            <a:pPr algn="ctr">
              <a:lnSpc>
                <a:spcPct val="15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657236" y="1900859"/>
            <a:ext cx="416609" cy="416670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092721" y="1858918"/>
            <a:ext cx="442079" cy="416670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007545" y="210957"/>
            <a:ext cx="10696755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性能对比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82743" y="334905"/>
            <a:ext cx="218940" cy="218940"/>
          </a:xfrm>
          <a:prstGeom prst="chevr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87699" y="334905"/>
            <a:ext cx="218940" cy="21894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292654" y="334905"/>
            <a:ext cx="218940" cy="21894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2740" y="3020695"/>
            <a:ext cx="6779260" cy="305054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800225" y="3912870"/>
            <a:ext cx="3590290" cy="201549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这是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本地模型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，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稳定性很好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，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没有可以跑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，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过几天又跑不了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的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现象</a:t>
            </a:r>
            <a:endParaRPr lang="en-US" altLang="zh-CN" sz="240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835" y="0"/>
            <a:ext cx="4241165" cy="393128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2740660" y="1086485"/>
            <a:ext cx="6705600" cy="11887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将模型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存储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</a:rPr>
              <a:t>后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</a:rPr>
              <a:t>也可以独立运行预测</a:t>
            </a:r>
            <a:endParaRPr lang="en-US" altLang="zh-CN" sz="24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4761" y="0"/>
            <a:ext cx="12196761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53325"/>
            <a:ext cx="12192000" cy="114300"/>
          </a:xfrm>
          <a:custGeom>
            <a:avLst/>
            <a:gdLst>
              <a:gd name="connsiteX0" fmla="*/ 0 w 12192000"/>
              <a:gd name="connsiteY0" fmla="*/ 0 h 114300"/>
              <a:gd name="connsiteX1" fmla="*/ 12192000 w 12192000"/>
              <a:gd name="connsiteY1" fmla="*/ 0 h 114300"/>
              <a:gd name="connsiteX2" fmla="*/ 12192000 w 12192000"/>
              <a:gd name="connsiteY2" fmla="*/ 114300 h 114300"/>
              <a:gd name="connsiteX3" fmla="*/ 0 w 12192000"/>
              <a:gd name="connsiteY3" fmla="*/ 114300 h 114300"/>
            </a:gdLst>
            <a:ahLst/>
            <a:cxnLst/>
            <a:rect l="l" t="t" r="r" b="b"/>
            <a:pathLst>
              <a:path w="12192000" h="114300">
                <a:moveTo>
                  <a:pt x="0" y="0"/>
                </a:moveTo>
                <a:lnTo>
                  <a:pt x="12192000" y="0"/>
                </a:lnTo>
                <a:lnTo>
                  <a:pt x="12192000" y="114300"/>
                </a:lnTo>
                <a:lnTo>
                  <a:pt x="0" y="1143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729614" y="1601175"/>
            <a:ext cx="5324476" cy="4214409"/>
          </a:xfrm>
          <a:prstGeom prst="roundRect">
            <a:avLst>
              <a:gd name="adj" fmla="val 3166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39700" dist="38100" dir="2700000" algn="tl" rotWithShape="0">
              <a:schemeClr val="accent1"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29614" y="1501321"/>
            <a:ext cx="5324471" cy="395544"/>
          </a:xfrm>
          <a:prstGeom prst="round2DiagRect">
            <a:avLst>
              <a:gd name="adj1" fmla="val 31901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08396" y="1540894"/>
            <a:ext cx="5163458" cy="3203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运行稳定性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144259" y="1592603"/>
            <a:ext cx="5324476" cy="4214409"/>
          </a:xfrm>
          <a:prstGeom prst="roundRect">
            <a:avLst>
              <a:gd name="adj" fmla="val 3166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39700" dist="38100" dir="2700000" algn="tl" rotWithShape="0">
              <a:schemeClr val="accent1"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025072" y="1501321"/>
            <a:ext cx="3524249" cy="386972"/>
          </a:xfrm>
          <a:prstGeom prst="round2DiagRect">
            <a:avLst>
              <a:gd name="adj1" fmla="val 31901"/>
              <a:gd name="adj2" fmla="val 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144261" y="1492748"/>
            <a:ext cx="5324474" cy="395544"/>
          </a:xfrm>
          <a:prstGeom prst="round2DiagRect">
            <a:avLst>
              <a:gd name="adj1" fmla="val 31901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223043" y="1532321"/>
            <a:ext cx="5163458" cy="3203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调试和优化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29655" y="1896787"/>
            <a:ext cx="5163458" cy="37185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本地模型运行稳定，未出现内存问题，而分布式模型常因内存不足导致作业中断。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223041" y="1939308"/>
            <a:ext cx="5163458" cy="37185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本地模型调试和优化过程简单，便于快速迭代，而分布式模型调试复杂，优化难度大。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007545" y="210957"/>
            <a:ext cx="10696755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稳定性对比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82743" y="334905"/>
            <a:ext cx="218940" cy="218940"/>
          </a:xfrm>
          <a:prstGeom prst="chevr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87699" y="334905"/>
            <a:ext cx="218940" cy="21894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292654" y="334905"/>
            <a:ext cx="218940" cy="21894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blipFill>
            <a:blip r:embed="rId1"/>
            <a:srcRect/>
            <a:stretch>
              <a:fillRect l="-164" r="-164"/>
            </a:stretch>
          </a:blip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bg1">
              <a:alpha val="92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4" name="标题 1"/>
          <p:cNvSpPr txBox="1"/>
          <p:nvPr/>
        </p:nvSpPr>
        <p:spPr>
          <a:xfrm rot="3172644">
            <a:off x="1879916" y="1518209"/>
            <a:ext cx="672025" cy="672025"/>
          </a:xfrm>
          <a:prstGeom prst="ellipse">
            <a:avLst/>
          </a:prstGeom>
          <a:gradFill>
            <a:gsLst>
              <a:gs pos="9000">
                <a:schemeClr val="accent4">
                  <a:lumMod val="40000"/>
                  <a:lumOff val="60000"/>
                  <a:alpha val="80000"/>
                </a:schemeClr>
              </a:gs>
              <a:gs pos="100000">
                <a:schemeClr val="bg1">
                  <a:alpha val="7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1" y="4800602"/>
            <a:ext cx="5844209" cy="2064024"/>
          </a:xfrm>
          <a:custGeom>
            <a:avLst/>
            <a:gdLst>
              <a:gd name="connsiteX0" fmla="*/ 0 w 3095538"/>
              <a:gd name="connsiteY0" fmla="*/ 181103 h 1093264"/>
              <a:gd name="connsiteX1" fmla="*/ 1761689 w 3095538"/>
              <a:gd name="connsiteY1" fmla="*/ 546023 h 1093264"/>
              <a:gd name="connsiteX2" fmla="*/ 3095538 w 3095538"/>
              <a:gd name="connsiteY2" fmla="*/ 1093264 h 1093264"/>
              <a:gd name="connsiteX3" fmla="*/ 0 w 3095538"/>
              <a:gd name="connsiteY3" fmla="*/ 1093264 h 1093264"/>
              <a:gd name="connsiteX4" fmla="*/ 0 w 3095538"/>
              <a:gd name="connsiteY4" fmla="*/ 181103 h 1093264"/>
              <a:gd name="connsiteX5" fmla="*/ 0 w 3095538"/>
              <a:gd name="connsiteY5" fmla="*/ 184030 h 1096191"/>
            </a:gdLst>
            <a:ahLst/>
            <a:cxnLst/>
            <a:rect l="l" t="t" r="r" b="b"/>
            <a:pathLst>
              <a:path w="3095538" h="1093264">
                <a:moveTo>
                  <a:pt x="0" y="181103"/>
                </a:moveTo>
                <a:cubicBezTo>
                  <a:pt x="664128" y="-313847"/>
                  <a:pt x="1395369" y="340493"/>
                  <a:pt x="1761689" y="546023"/>
                </a:cubicBezTo>
                <a:cubicBezTo>
                  <a:pt x="2270621" y="847281"/>
                  <a:pt x="2599190" y="1043676"/>
                  <a:pt x="3095538" y="1093264"/>
                </a:cubicBezTo>
                <a:lnTo>
                  <a:pt x="0" y="1093264"/>
                </a:lnTo>
                <a:lnTo>
                  <a:pt x="0" y="18110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83000"/>
                </a:schemeClr>
              </a:gs>
              <a:gs pos="92000">
                <a:schemeClr val="accent2">
                  <a:alpha val="7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3760697"/>
            <a:ext cx="1826546" cy="3103929"/>
          </a:xfrm>
          <a:custGeom>
            <a:avLst/>
            <a:gdLst>
              <a:gd name="connsiteX0" fmla="*/ 0 w 1098373"/>
              <a:gd name="connsiteY0" fmla="*/ 411206 h 1732006"/>
              <a:gd name="connsiteX1" fmla="*/ 996333 w 1098373"/>
              <a:gd name="connsiteY1" fmla="*/ 79840 h 1732006"/>
              <a:gd name="connsiteX2" fmla="*/ 903120 w 1098373"/>
              <a:gd name="connsiteY2" fmla="*/ 740149 h 1732006"/>
              <a:gd name="connsiteX3" fmla="*/ 975360 w 1098373"/>
              <a:gd name="connsiteY3" fmla="*/ 1732006 h 1732006"/>
              <a:gd name="connsiteX4" fmla="*/ 0 w 1098373"/>
              <a:gd name="connsiteY4" fmla="*/ 1732006 h 1732006"/>
              <a:gd name="connsiteX5" fmla="*/ 0 w 1098373"/>
              <a:gd name="connsiteY5" fmla="*/ 411206 h 1732006"/>
            </a:gdLst>
            <a:ahLst/>
            <a:cxnLst/>
            <a:rect l="l" t="t" r="r" b="b"/>
            <a:pathLst>
              <a:path w="1098373" h="1732006">
                <a:moveTo>
                  <a:pt x="0" y="411206"/>
                </a:moveTo>
                <a:cubicBezTo>
                  <a:pt x="374056" y="-51587"/>
                  <a:pt x="832002" y="-61375"/>
                  <a:pt x="996333" y="79840"/>
                </a:cubicBezTo>
                <a:cubicBezTo>
                  <a:pt x="1185303" y="262595"/>
                  <a:pt x="1086978" y="569651"/>
                  <a:pt x="903120" y="740149"/>
                </a:cubicBezTo>
                <a:cubicBezTo>
                  <a:pt x="446620" y="1149733"/>
                  <a:pt x="426099" y="1564600"/>
                  <a:pt x="975360" y="1732006"/>
                </a:cubicBezTo>
                <a:lnTo>
                  <a:pt x="0" y="1732006"/>
                </a:lnTo>
                <a:lnTo>
                  <a:pt x="0" y="41120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9000"/>
                </a:schemeClr>
              </a:gs>
              <a:gs pos="100000">
                <a:schemeClr val="accent2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408950" y="-6626"/>
            <a:ext cx="4783050" cy="1477215"/>
          </a:xfrm>
          <a:custGeom>
            <a:avLst/>
            <a:gdLst>
              <a:gd name="connsiteX0" fmla="*/ 462410 w 2811328"/>
              <a:gd name="connsiteY0" fmla="*/ 0 h 868261"/>
              <a:gd name="connsiteX1" fmla="*/ 2811328 w 2811328"/>
              <a:gd name="connsiteY1" fmla="*/ 0 h 868261"/>
              <a:gd name="connsiteX2" fmla="*/ 2811328 w 2811328"/>
              <a:gd name="connsiteY2" fmla="*/ 868261 h 868261"/>
              <a:gd name="connsiteX3" fmla="*/ 982529 w 2811328"/>
              <a:gd name="connsiteY3" fmla="*/ 683703 h 868261"/>
              <a:gd name="connsiteX4" fmla="*/ 5210 w 2811328"/>
              <a:gd name="connsiteY4" fmla="*/ 654342 h 868261"/>
              <a:gd name="connsiteX5" fmla="*/ 462410 w 2811328"/>
              <a:gd name="connsiteY5" fmla="*/ 0 h 868261"/>
            </a:gdLst>
            <a:ahLst/>
            <a:cxnLst/>
            <a:rect l="l" t="t" r="r" b="b"/>
            <a:pathLst>
              <a:path w="2811328" h="868261">
                <a:moveTo>
                  <a:pt x="462410" y="0"/>
                </a:moveTo>
                <a:lnTo>
                  <a:pt x="2811328" y="0"/>
                </a:lnTo>
                <a:lnTo>
                  <a:pt x="2811328" y="868261"/>
                </a:lnTo>
                <a:cubicBezTo>
                  <a:pt x="2345739" y="308995"/>
                  <a:pt x="1153804" y="650846"/>
                  <a:pt x="982529" y="683703"/>
                </a:cubicBezTo>
                <a:cubicBezTo>
                  <a:pt x="404388" y="854978"/>
                  <a:pt x="58280" y="883459"/>
                  <a:pt x="5210" y="654342"/>
                </a:cubicBezTo>
                <a:cubicBezTo>
                  <a:pt x="-46523" y="236290"/>
                  <a:pt x="300222" y="78298"/>
                  <a:pt x="4624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alpha val="8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9239250" y="-6350"/>
            <a:ext cx="2952750" cy="3533775"/>
          </a:xfrm>
          <a:custGeom>
            <a:avLst/>
            <a:gdLst>
              <a:gd name="connsiteX0" fmla="*/ 155567 w 1095134"/>
              <a:gd name="connsiteY0" fmla="*/ 0 h 1738370"/>
              <a:gd name="connsiteX1" fmla="*/ 1095134 w 1095134"/>
              <a:gd name="connsiteY1" fmla="*/ 0 h 1738370"/>
              <a:gd name="connsiteX2" fmla="*/ 1095134 w 1095134"/>
              <a:gd name="connsiteY2" fmla="*/ 1342239 h 1738370"/>
              <a:gd name="connsiteX3" fmla="*/ 109427 w 1095134"/>
              <a:gd name="connsiteY3" fmla="*/ 1665214 h 1738370"/>
              <a:gd name="connsiteX4" fmla="*/ 541465 w 1095134"/>
              <a:gd name="connsiteY4" fmla="*/ 503339 h 1738370"/>
              <a:gd name="connsiteX5" fmla="*/ 155567 w 1095134"/>
              <a:gd name="connsiteY5" fmla="*/ 0 h 1738370"/>
            </a:gdLst>
            <a:ahLst/>
            <a:cxnLst/>
            <a:rect l="l" t="t" r="r" b="b"/>
            <a:pathLst>
              <a:path w="1095134" h="1738369">
                <a:moveTo>
                  <a:pt x="155567" y="0"/>
                </a:moveTo>
                <a:lnTo>
                  <a:pt x="1095134" y="0"/>
                </a:lnTo>
                <a:lnTo>
                  <a:pt x="1095134" y="1342239"/>
                </a:lnTo>
                <a:cubicBezTo>
                  <a:pt x="556841" y="1856764"/>
                  <a:pt x="203105" y="1754697"/>
                  <a:pt x="109427" y="1665214"/>
                </a:cubicBezTo>
                <a:cubicBezTo>
                  <a:pt x="-278562" y="1249260"/>
                  <a:pt x="485538" y="824916"/>
                  <a:pt x="541465" y="503339"/>
                </a:cubicBezTo>
                <a:cubicBezTo>
                  <a:pt x="572225" y="257262"/>
                  <a:pt x="363196" y="109756"/>
                  <a:pt x="155567" y="0"/>
                </a:cubicBezTo>
                <a:close/>
              </a:path>
            </a:pathLst>
          </a:custGeom>
          <a:gradFill>
            <a:gsLst>
              <a:gs pos="13000">
                <a:schemeClr val="accent1">
                  <a:alpha val="70000"/>
                </a:schemeClr>
              </a:gs>
              <a:gs pos="56000">
                <a:schemeClr val="accent1">
                  <a:alpha val="4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1120086" y="1610229"/>
            <a:ext cx="1071914" cy="4410721"/>
          </a:xfrm>
          <a:custGeom>
            <a:avLst/>
            <a:gdLst>
              <a:gd name="connsiteX0" fmla="*/ 2562 w 470947"/>
              <a:gd name="connsiteY0" fmla="*/ 541090 h 1937857"/>
              <a:gd name="connsiteX1" fmla="*/ 470947 w 470947"/>
              <a:gd name="connsiteY1" fmla="*/ 0 h 1937857"/>
              <a:gd name="connsiteX2" fmla="*/ 470947 w 470947"/>
              <a:gd name="connsiteY2" fmla="*/ 1937857 h 1937857"/>
              <a:gd name="connsiteX3" fmla="*/ 2562 w 470947"/>
              <a:gd name="connsiteY3" fmla="*/ 541090 h 1937857"/>
              <a:gd name="connsiteX4" fmla="*/ 2562 w 470947"/>
              <a:gd name="connsiteY4" fmla="*/ 541090 h 1937857"/>
            </a:gdLst>
            <a:ahLst/>
            <a:cxnLst/>
            <a:rect l="l" t="t" r="r" b="b"/>
            <a:pathLst>
              <a:path w="470947" h="1937857">
                <a:moveTo>
                  <a:pt x="2562" y="541090"/>
                </a:moveTo>
                <a:cubicBezTo>
                  <a:pt x="-34257" y="142614"/>
                  <a:pt x="335792" y="33555"/>
                  <a:pt x="470947" y="0"/>
                </a:cubicBezTo>
                <a:lnTo>
                  <a:pt x="470947" y="1937857"/>
                </a:lnTo>
                <a:cubicBezTo>
                  <a:pt x="453237" y="1279321"/>
                  <a:pt x="74800" y="985706"/>
                  <a:pt x="2562" y="54109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85000">
                <a:schemeClr val="accent2"/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51176" y="3262121"/>
            <a:ext cx="971224" cy="971224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1000">
                <a:schemeClr val="accent1">
                  <a:alpha val="22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285431" y="201326"/>
            <a:ext cx="596569" cy="596569"/>
          </a:xfrm>
          <a:prstGeom prst="ellipse">
            <a:avLst/>
          </a:prstGeom>
          <a:gradFill>
            <a:gsLst>
              <a:gs pos="0">
                <a:schemeClr val="accent2"/>
              </a:gs>
              <a:gs pos="81000">
                <a:schemeClr val="accent1">
                  <a:alpha val="47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172120" y="5862182"/>
            <a:ext cx="386558" cy="386558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  <a:alpha val="13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1369984" y="4043547"/>
            <a:ext cx="596569" cy="59656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  <a:alpha val="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0029423" y="1084105"/>
            <a:ext cx="307272" cy="307272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  <a:alpha val="1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728224" y="6279365"/>
            <a:ext cx="1008113" cy="338628"/>
          </a:xfrm>
          <a:custGeom>
            <a:avLst/>
            <a:gdLst>
              <a:gd name="connsiteX0" fmla="*/ 415276 w 3541187"/>
              <a:gd name="connsiteY0" fmla="*/ 0 h 415276"/>
              <a:gd name="connsiteX1" fmla="*/ 0 w 3541187"/>
              <a:gd name="connsiteY1" fmla="*/ 0 h 415276"/>
              <a:gd name="connsiteX2" fmla="*/ 0 w 3541187"/>
              <a:gd name="connsiteY2" fmla="*/ 415276 h 415276"/>
              <a:gd name="connsiteX3" fmla="*/ 415276 w 3541187"/>
              <a:gd name="connsiteY3" fmla="*/ 415276 h 415276"/>
              <a:gd name="connsiteX4" fmla="*/ 1184675 w 3541187"/>
              <a:gd name="connsiteY4" fmla="*/ 0 h 415276"/>
              <a:gd name="connsiteX5" fmla="*/ 769399 w 3541187"/>
              <a:gd name="connsiteY5" fmla="*/ 0 h 415276"/>
              <a:gd name="connsiteX6" fmla="*/ 769399 w 3541187"/>
              <a:gd name="connsiteY6" fmla="*/ 415276 h 415276"/>
              <a:gd name="connsiteX7" fmla="*/ 1184675 w 3541187"/>
              <a:gd name="connsiteY7" fmla="*/ 415276 h 415276"/>
              <a:gd name="connsiteX8" fmla="*/ 1954074 w 3541187"/>
              <a:gd name="connsiteY8" fmla="*/ 0 h 415276"/>
              <a:gd name="connsiteX9" fmla="*/ 1538798 w 3541187"/>
              <a:gd name="connsiteY9" fmla="*/ 0 h 415276"/>
              <a:gd name="connsiteX10" fmla="*/ 1538798 w 3541187"/>
              <a:gd name="connsiteY10" fmla="*/ 415276 h 415276"/>
              <a:gd name="connsiteX11" fmla="*/ 1954074 w 3541187"/>
              <a:gd name="connsiteY11" fmla="*/ 415276 h 415276"/>
              <a:gd name="connsiteX12" fmla="*/ 2771788 w 3541187"/>
              <a:gd name="connsiteY12" fmla="*/ 0 h 415276"/>
              <a:gd name="connsiteX13" fmla="*/ 2356512 w 3541187"/>
              <a:gd name="connsiteY13" fmla="*/ 0 h 415276"/>
              <a:gd name="connsiteX14" fmla="*/ 2356512 w 3541187"/>
              <a:gd name="connsiteY14" fmla="*/ 415276 h 415276"/>
              <a:gd name="connsiteX15" fmla="*/ 2771788 w 3541187"/>
              <a:gd name="connsiteY15" fmla="*/ 415276 h 415276"/>
              <a:gd name="connsiteX16" fmla="*/ 3541187 w 3541187"/>
              <a:gd name="connsiteY16" fmla="*/ 0 h 415276"/>
              <a:gd name="connsiteX17" fmla="*/ 3125911 w 3541187"/>
              <a:gd name="connsiteY17" fmla="*/ 0 h 415276"/>
              <a:gd name="connsiteX18" fmla="*/ 3125911 w 3541187"/>
              <a:gd name="connsiteY18" fmla="*/ 415276 h 415276"/>
              <a:gd name="connsiteX19" fmla="*/ 3541187 w 3541187"/>
              <a:gd name="connsiteY19" fmla="*/ 415276 h 415276"/>
            </a:gdLst>
            <a:ahLst/>
            <a:cxnLst/>
            <a:rect l="l" t="t" r="r" b="b"/>
            <a:pathLst>
              <a:path w="3541187" h="415276">
                <a:moveTo>
                  <a:pt x="415276" y="0"/>
                </a:moveTo>
                <a:lnTo>
                  <a:pt x="0" y="0"/>
                </a:lnTo>
                <a:lnTo>
                  <a:pt x="0" y="415276"/>
                </a:lnTo>
                <a:lnTo>
                  <a:pt x="415276" y="415276"/>
                </a:lnTo>
                <a:close/>
                <a:moveTo>
                  <a:pt x="1184675" y="0"/>
                </a:moveTo>
                <a:lnTo>
                  <a:pt x="769399" y="0"/>
                </a:lnTo>
                <a:lnTo>
                  <a:pt x="769399" y="415276"/>
                </a:lnTo>
                <a:lnTo>
                  <a:pt x="1184675" y="415276"/>
                </a:lnTo>
                <a:close/>
                <a:moveTo>
                  <a:pt x="1954074" y="0"/>
                </a:moveTo>
                <a:lnTo>
                  <a:pt x="1538798" y="0"/>
                </a:lnTo>
                <a:lnTo>
                  <a:pt x="1538798" y="415276"/>
                </a:lnTo>
                <a:lnTo>
                  <a:pt x="1954074" y="415276"/>
                </a:lnTo>
                <a:close/>
                <a:moveTo>
                  <a:pt x="2771788" y="0"/>
                </a:moveTo>
                <a:lnTo>
                  <a:pt x="2356512" y="0"/>
                </a:lnTo>
                <a:lnTo>
                  <a:pt x="2356512" y="415276"/>
                </a:lnTo>
                <a:lnTo>
                  <a:pt x="2771788" y="415276"/>
                </a:lnTo>
                <a:close/>
                <a:moveTo>
                  <a:pt x="3541187" y="0"/>
                </a:moveTo>
                <a:lnTo>
                  <a:pt x="3125911" y="0"/>
                </a:lnTo>
                <a:lnTo>
                  <a:pt x="3125911" y="415276"/>
                </a:lnTo>
                <a:lnTo>
                  <a:pt x="3541187" y="41527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7" name="标题 1"/>
          <p:cNvCxnSpPr/>
          <p:nvPr/>
        </p:nvCxnSpPr>
        <p:spPr>
          <a:xfrm flipH="1" flipV="1">
            <a:off x="6297525" y="6445403"/>
            <a:ext cx="4104189" cy="6553"/>
          </a:xfrm>
          <a:prstGeom prst="line">
            <a:avLst/>
          </a:prstGeom>
          <a:noFill/>
          <a:ln w="19050" cap="sq">
            <a:solidFill>
              <a:schemeClr val="accent1">
                <a:lumMod val="60000"/>
                <a:lumOff val="40000"/>
              </a:schemeClr>
            </a:solidFill>
            <a:prstDash val="solid"/>
            <a:miter/>
            <a:headEnd type="oval" w="lg" len="lg"/>
            <a:tailEnd type="oval" w="lg" len="lg"/>
          </a:ln>
        </p:spPr>
      </p:cxnSp>
      <p:sp>
        <p:nvSpPr>
          <p:cNvPr id="18" name="标题 1"/>
          <p:cNvSpPr txBox="1"/>
          <p:nvPr/>
        </p:nvSpPr>
        <p:spPr>
          <a:xfrm flipV="1">
            <a:off x="3072680" y="589809"/>
            <a:ext cx="3636286" cy="53470"/>
          </a:xfrm>
          <a:custGeom>
            <a:avLst/>
            <a:gdLst>
              <a:gd name="connsiteX0" fmla="*/ 0 w 3636286"/>
              <a:gd name="connsiteY0" fmla="*/ 94727 h 94727"/>
              <a:gd name="connsiteX1" fmla="*/ 3419713 w 3636286"/>
              <a:gd name="connsiteY1" fmla="*/ 94727 h 94727"/>
              <a:gd name="connsiteX2" fmla="*/ 3528000 w 3636286"/>
              <a:gd name="connsiteY2" fmla="*/ 94727 h 94727"/>
              <a:gd name="connsiteX3" fmla="*/ 3636286 w 3636286"/>
              <a:gd name="connsiteY3" fmla="*/ 94727 h 94727"/>
              <a:gd name="connsiteX4" fmla="*/ 3419713 w 3636286"/>
              <a:gd name="connsiteY4" fmla="*/ 0 h 94727"/>
              <a:gd name="connsiteX5" fmla="*/ 3419713 w 3636286"/>
              <a:gd name="connsiteY5" fmla="*/ 58727 h 94727"/>
              <a:gd name="connsiteX6" fmla="*/ 0 w 3636286"/>
              <a:gd name="connsiteY6" fmla="*/ 58727 h 94727"/>
            </a:gdLst>
            <a:ahLst/>
            <a:cxnLst/>
            <a:rect l="l" t="t" r="r" b="b"/>
            <a:pathLst>
              <a:path w="3636286" h="94727">
                <a:moveTo>
                  <a:pt x="0" y="94727"/>
                </a:moveTo>
                <a:lnTo>
                  <a:pt x="3419713" y="94727"/>
                </a:lnTo>
                <a:lnTo>
                  <a:pt x="3528000" y="94727"/>
                </a:lnTo>
                <a:lnTo>
                  <a:pt x="3636286" y="94727"/>
                </a:lnTo>
                <a:lnTo>
                  <a:pt x="3419713" y="0"/>
                </a:lnTo>
                <a:lnTo>
                  <a:pt x="3419713" y="58727"/>
                </a:lnTo>
                <a:lnTo>
                  <a:pt x="0" y="5872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860441" y="2954694"/>
            <a:ext cx="6470241" cy="21632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5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结论与展望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3693196" y="5023485"/>
            <a:ext cx="4805608" cy="473593"/>
          </a:xfrm>
          <a:custGeom>
            <a:avLst/>
            <a:gdLst>
              <a:gd name="T0" fmla="*/ 563 w 646"/>
              <a:gd name="T1" fmla="*/ 208 h 208"/>
              <a:gd name="T2" fmla="*/ 23 w 646"/>
              <a:gd name="T3" fmla="*/ 208 h 208"/>
              <a:gd name="T4" fmla="*/ 5 w 646"/>
              <a:gd name="T5" fmla="*/ 182 h 208"/>
              <a:gd name="T6" fmla="*/ 50 w 646"/>
              <a:gd name="T7" fmla="*/ 27 h 208"/>
              <a:gd name="T8" fmla="*/ 83 w 646"/>
              <a:gd name="T9" fmla="*/ 0 h 208"/>
              <a:gd name="T10" fmla="*/ 623 w 646"/>
              <a:gd name="T11" fmla="*/ 0 h 208"/>
              <a:gd name="T12" fmla="*/ 642 w 646"/>
              <a:gd name="T13" fmla="*/ 27 h 208"/>
              <a:gd name="T14" fmla="*/ 597 w 646"/>
              <a:gd name="T15" fmla="*/ 182 h 208"/>
              <a:gd name="T16" fmla="*/ 563 w 646"/>
              <a:gd name="T17" fmla="*/ 208 h 208"/>
            </a:gdLst>
            <a:ahLst/>
            <a:cxnLst/>
            <a:rect l="0" t="0" r="r" b="b"/>
            <a:pathLst>
              <a:path w="646" h="208">
                <a:moveTo>
                  <a:pt x="563" y="208"/>
                </a:moveTo>
                <a:cubicBezTo>
                  <a:pt x="23" y="208"/>
                  <a:pt x="23" y="208"/>
                  <a:pt x="23" y="208"/>
                </a:cubicBezTo>
                <a:cubicBezTo>
                  <a:pt x="9" y="208"/>
                  <a:pt x="0" y="196"/>
                  <a:pt x="5" y="182"/>
                </a:cubicBezTo>
                <a:cubicBezTo>
                  <a:pt x="50" y="27"/>
                  <a:pt x="50" y="27"/>
                  <a:pt x="50" y="27"/>
                </a:cubicBezTo>
                <a:cubicBezTo>
                  <a:pt x="54" y="12"/>
                  <a:pt x="69" y="0"/>
                  <a:pt x="83" y="0"/>
                </a:cubicBezTo>
                <a:cubicBezTo>
                  <a:pt x="623" y="0"/>
                  <a:pt x="623" y="0"/>
                  <a:pt x="623" y="0"/>
                </a:cubicBezTo>
                <a:cubicBezTo>
                  <a:pt x="638" y="0"/>
                  <a:pt x="646" y="12"/>
                  <a:pt x="642" y="27"/>
                </a:cubicBezTo>
                <a:cubicBezTo>
                  <a:pt x="597" y="182"/>
                  <a:pt x="597" y="182"/>
                  <a:pt x="597" y="182"/>
                </a:cubicBezTo>
                <a:cubicBezTo>
                  <a:pt x="593" y="196"/>
                  <a:pt x="578" y="208"/>
                  <a:pt x="563" y="208"/>
                </a:cubicBezTo>
                <a:close/>
              </a:path>
            </a:pathLst>
          </a:custGeom>
          <a:gradFill>
            <a:gsLst>
              <a:gs pos="25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20000"/>
                  <a:lumOff val="80000"/>
                  <a:alpha val="11000"/>
                </a:schemeClr>
              </a:gs>
            </a:gsLst>
            <a:lin ang="18900000" scaled="0"/>
          </a:gradFill>
          <a:ln w="12700" cap="sq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4321067" y="5118254"/>
            <a:ext cx="3549866" cy="2840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gradFill>
                  <a:gsLst>
                    <a:gs pos="13000">
                      <a:srgbClr val="0C6BFF">
                        <a:alpha val="100000"/>
                      </a:srgbClr>
                    </a:gs>
                    <a:gs pos="90000">
                      <a:srgbClr val="9EC4FF">
                        <a:alpha val="100000"/>
                      </a:srgbClr>
                    </a:gs>
                  </a:gsLst>
                  <a:lin ang="5400000" scaled="0"/>
                </a:gra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POWERPOINT DESIGN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4148161" y="1751568"/>
            <a:ext cx="2082800" cy="8275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5400">
                <a:ln w="12700">
                  <a:noFill/>
                </a:ln>
                <a:gradFill>
                  <a:gsLst>
                    <a:gs pos="19000">
                      <a:srgbClr val="0C6BFF">
                        <a:alpha val="100000"/>
                      </a:srgbClr>
                    </a:gs>
                    <a:gs pos="83000">
                      <a:srgbClr val="0165FF">
                        <a:alpha val="10000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PART.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671770" y="646668"/>
            <a:ext cx="1194270" cy="19324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5400">
                <a:ln w="12700">
                  <a:noFill/>
                </a:ln>
                <a:gradFill>
                  <a:gsLst>
                    <a:gs pos="19000">
                      <a:srgbClr val="0C6BFF">
                        <a:alpha val="100000"/>
                      </a:srgbClr>
                    </a:gs>
                    <a:gs pos="83000">
                      <a:srgbClr val="0165FF">
                        <a:alpha val="10000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05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4761" y="0"/>
            <a:ext cx="12196761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3" name="标题 1"/>
          <p:cNvSpPr txBox="1"/>
          <p:nvPr/>
        </p:nvSpPr>
        <p:spPr>
          <a:xfrm>
            <a:off x="1590569" y="1507958"/>
            <a:ext cx="1780674" cy="1788695"/>
          </a:xfrm>
          <a:prstGeom prst="round2Diag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flipH="1">
            <a:off x="3443434" y="1507958"/>
            <a:ext cx="7098630" cy="1788695"/>
          </a:xfrm>
          <a:prstGeom prst="round2DiagRect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654615" y="2229438"/>
            <a:ext cx="6676268" cy="90144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本地模型在情感分析任务中表现优异，准确率高，稳定性好，是更优的选择。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002043" y="1219876"/>
            <a:ext cx="667674" cy="670681"/>
          </a:xfrm>
          <a:prstGeom prst="round2Diag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0165497" y="1397600"/>
            <a:ext cx="340767" cy="315233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776338" y="1812758"/>
            <a:ext cx="1409136" cy="1096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6000">
                <a:ln w="15875">
                  <a:solidFill>
                    <a:srgbClr val="3860F4">
                      <a:alpha val="100000"/>
                    </a:srgbClr>
                  </a:solidFill>
                </a:ln>
                <a:solidFill>
                  <a:srgbClr val="0C6BFF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01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452496" y="1350341"/>
            <a:ext cx="203957" cy="204876"/>
          </a:xfrm>
          <a:prstGeom prst="round2Diag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3654615" y="1824783"/>
            <a:ext cx="6676268" cy="36217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模型性能总结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590569" y="4073096"/>
            <a:ext cx="1780674" cy="1788695"/>
          </a:xfrm>
          <a:prstGeom prst="round2Diag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>
            <a:off x="3443434" y="4073096"/>
            <a:ext cx="7098630" cy="1788695"/>
          </a:xfrm>
          <a:prstGeom prst="round2DiagRect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654615" y="4794576"/>
            <a:ext cx="6676268" cy="90144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本地模型适用于中小型数据集的情感分析任务，具有较好的应用前景和推广价值。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0002043" y="3785014"/>
            <a:ext cx="667674" cy="670681"/>
          </a:xfrm>
          <a:prstGeom prst="round2Diag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0165497" y="3959765"/>
            <a:ext cx="340767" cy="321180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776338" y="4377896"/>
            <a:ext cx="1409136" cy="1096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6000">
                <a:ln w="15875">
                  <a:solidFill>
                    <a:srgbClr val="3860F4">
                      <a:alpha val="100000"/>
                    </a:srgbClr>
                  </a:solidFill>
                </a:ln>
                <a:solidFill>
                  <a:srgbClr val="0C6BFF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02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452496" y="3915479"/>
            <a:ext cx="203957" cy="204876"/>
          </a:xfrm>
          <a:prstGeom prst="round2Diag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654615" y="4389921"/>
            <a:ext cx="6676268" cy="36217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模型应用前景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007545" y="210957"/>
            <a:ext cx="10696755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结论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82743" y="334905"/>
            <a:ext cx="218940" cy="218940"/>
          </a:xfrm>
          <a:prstGeom prst="chevr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487699" y="334905"/>
            <a:ext cx="218940" cy="21894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92654" y="334905"/>
            <a:ext cx="218940" cy="21894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4761" y="0"/>
            <a:ext cx="12196761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3" name="标题 1"/>
          <p:cNvSpPr txBox="1"/>
          <p:nvPr/>
        </p:nvSpPr>
        <p:spPr>
          <a:xfrm rot="15399215">
            <a:off x="10434204" y="-1345769"/>
            <a:ext cx="2987112" cy="2987112"/>
          </a:xfrm>
          <a:prstGeom prst="donut">
            <a:avLst>
              <a:gd name="adj" fmla="val 13257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/>
              </a:gs>
            </a:gsLst>
            <a:lin ang="189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0" y="4444986"/>
            <a:ext cx="12192000" cy="2413013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  <a:alpha val="61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655100" y="1278824"/>
            <a:ext cx="10863797" cy="1854900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670919" y="3547254"/>
            <a:ext cx="10863797" cy="2413013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61480" y="1498321"/>
            <a:ext cx="10382769" cy="3734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C6B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模型优化方向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65620" y="1945403"/>
            <a:ext cx="10382769" cy="111910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未来可以进一步优化本地模型，提高对大规模数据集的处理能力，拓展应用场景。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61480" y="3822415"/>
            <a:ext cx="10490199" cy="32569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分布式模型改进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761480" y="4286435"/>
            <a:ext cx="10487025" cy="13439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对分布式模型进行资源优化和参数调整，解决内存问题，提高模型的稳定性和性能。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07545" y="210957"/>
            <a:ext cx="10696755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展望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82743" y="334905"/>
            <a:ext cx="218940" cy="218940"/>
          </a:xfrm>
          <a:prstGeom prst="chevr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87699" y="334905"/>
            <a:ext cx="218940" cy="21894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292654" y="334905"/>
            <a:ext cx="218940" cy="21894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blipFill>
            <a:blip r:embed="rId1"/>
            <a:srcRect/>
            <a:stretch>
              <a:fillRect l="-164" r="-164"/>
            </a:stretch>
          </a:blip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bg1">
              <a:alpha val="92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/>
              <a:t> </a:t>
            </a:r>
            <a:endParaRPr kumimoji="1" lang="en-US" altLang="zh-CN"/>
          </a:p>
        </p:txBody>
      </p:sp>
      <p:sp>
        <p:nvSpPr>
          <p:cNvPr id="4" name="标题 1"/>
          <p:cNvSpPr txBox="1"/>
          <p:nvPr/>
        </p:nvSpPr>
        <p:spPr>
          <a:xfrm rot="3172644">
            <a:off x="1879916" y="1518209"/>
            <a:ext cx="672025" cy="672025"/>
          </a:xfrm>
          <a:prstGeom prst="ellipse">
            <a:avLst/>
          </a:prstGeom>
          <a:gradFill>
            <a:gsLst>
              <a:gs pos="9000">
                <a:schemeClr val="accent4">
                  <a:lumMod val="40000"/>
                  <a:lumOff val="60000"/>
                  <a:alpha val="80000"/>
                </a:schemeClr>
              </a:gs>
              <a:gs pos="100000">
                <a:schemeClr val="bg1">
                  <a:alpha val="7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1" y="4800602"/>
            <a:ext cx="5844209" cy="2064024"/>
          </a:xfrm>
          <a:custGeom>
            <a:avLst/>
            <a:gdLst>
              <a:gd name="connsiteX0" fmla="*/ 0 w 3095538"/>
              <a:gd name="connsiteY0" fmla="*/ 181103 h 1093264"/>
              <a:gd name="connsiteX1" fmla="*/ 1761689 w 3095538"/>
              <a:gd name="connsiteY1" fmla="*/ 546023 h 1093264"/>
              <a:gd name="connsiteX2" fmla="*/ 3095538 w 3095538"/>
              <a:gd name="connsiteY2" fmla="*/ 1093264 h 1093264"/>
              <a:gd name="connsiteX3" fmla="*/ 0 w 3095538"/>
              <a:gd name="connsiteY3" fmla="*/ 1093264 h 1093264"/>
              <a:gd name="connsiteX4" fmla="*/ 0 w 3095538"/>
              <a:gd name="connsiteY4" fmla="*/ 181103 h 1093264"/>
              <a:gd name="connsiteX5" fmla="*/ 0 w 3095538"/>
              <a:gd name="connsiteY5" fmla="*/ 184030 h 1096191"/>
            </a:gdLst>
            <a:ahLst/>
            <a:cxnLst/>
            <a:rect l="l" t="t" r="r" b="b"/>
            <a:pathLst>
              <a:path w="3095538" h="1093264">
                <a:moveTo>
                  <a:pt x="0" y="181103"/>
                </a:moveTo>
                <a:cubicBezTo>
                  <a:pt x="664128" y="-313847"/>
                  <a:pt x="1395369" y="340493"/>
                  <a:pt x="1761689" y="546023"/>
                </a:cubicBezTo>
                <a:cubicBezTo>
                  <a:pt x="2270621" y="847281"/>
                  <a:pt x="2599190" y="1043676"/>
                  <a:pt x="3095538" y="1093264"/>
                </a:cubicBezTo>
                <a:lnTo>
                  <a:pt x="0" y="1093264"/>
                </a:lnTo>
                <a:lnTo>
                  <a:pt x="0" y="18110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83000"/>
                </a:schemeClr>
              </a:gs>
              <a:gs pos="92000">
                <a:schemeClr val="accent2">
                  <a:alpha val="7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3760697"/>
            <a:ext cx="1826546" cy="3103929"/>
          </a:xfrm>
          <a:custGeom>
            <a:avLst/>
            <a:gdLst>
              <a:gd name="connsiteX0" fmla="*/ 0 w 1098373"/>
              <a:gd name="connsiteY0" fmla="*/ 411206 h 1732006"/>
              <a:gd name="connsiteX1" fmla="*/ 996333 w 1098373"/>
              <a:gd name="connsiteY1" fmla="*/ 79840 h 1732006"/>
              <a:gd name="connsiteX2" fmla="*/ 903120 w 1098373"/>
              <a:gd name="connsiteY2" fmla="*/ 740149 h 1732006"/>
              <a:gd name="connsiteX3" fmla="*/ 975360 w 1098373"/>
              <a:gd name="connsiteY3" fmla="*/ 1732006 h 1732006"/>
              <a:gd name="connsiteX4" fmla="*/ 0 w 1098373"/>
              <a:gd name="connsiteY4" fmla="*/ 1732006 h 1732006"/>
              <a:gd name="connsiteX5" fmla="*/ 0 w 1098373"/>
              <a:gd name="connsiteY5" fmla="*/ 411206 h 1732006"/>
            </a:gdLst>
            <a:ahLst/>
            <a:cxnLst/>
            <a:rect l="l" t="t" r="r" b="b"/>
            <a:pathLst>
              <a:path w="1098373" h="1732006">
                <a:moveTo>
                  <a:pt x="0" y="411206"/>
                </a:moveTo>
                <a:cubicBezTo>
                  <a:pt x="374056" y="-51587"/>
                  <a:pt x="832002" y="-61375"/>
                  <a:pt x="996333" y="79840"/>
                </a:cubicBezTo>
                <a:cubicBezTo>
                  <a:pt x="1185303" y="262595"/>
                  <a:pt x="1086978" y="569651"/>
                  <a:pt x="903120" y="740149"/>
                </a:cubicBezTo>
                <a:cubicBezTo>
                  <a:pt x="446620" y="1149733"/>
                  <a:pt x="426099" y="1564600"/>
                  <a:pt x="975360" y="1732006"/>
                </a:cubicBezTo>
                <a:lnTo>
                  <a:pt x="0" y="1732006"/>
                </a:lnTo>
                <a:lnTo>
                  <a:pt x="0" y="41120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9000"/>
                </a:schemeClr>
              </a:gs>
              <a:gs pos="100000">
                <a:schemeClr val="accent2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408950" y="-6626"/>
            <a:ext cx="4783050" cy="1477215"/>
          </a:xfrm>
          <a:custGeom>
            <a:avLst/>
            <a:gdLst>
              <a:gd name="connsiteX0" fmla="*/ 462410 w 2811328"/>
              <a:gd name="connsiteY0" fmla="*/ 0 h 868261"/>
              <a:gd name="connsiteX1" fmla="*/ 2811328 w 2811328"/>
              <a:gd name="connsiteY1" fmla="*/ 0 h 868261"/>
              <a:gd name="connsiteX2" fmla="*/ 2811328 w 2811328"/>
              <a:gd name="connsiteY2" fmla="*/ 868261 h 868261"/>
              <a:gd name="connsiteX3" fmla="*/ 982529 w 2811328"/>
              <a:gd name="connsiteY3" fmla="*/ 683703 h 868261"/>
              <a:gd name="connsiteX4" fmla="*/ 5210 w 2811328"/>
              <a:gd name="connsiteY4" fmla="*/ 654342 h 868261"/>
              <a:gd name="connsiteX5" fmla="*/ 462410 w 2811328"/>
              <a:gd name="connsiteY5" fmla="*/ 0 h 868261"/>
            </a:gdLst>
            <a:ahLst/>
            <a:cxnLst/>
            <a:rect l="l" t="t" r="r" b="b"/>
            <a:pathLst>
              <a:path w="2811328" h="868261">
                <a:moveTo>
                  <a:pt x="462410" y="0"/>
                </a:moveTo>
                <a:lnTo>
                  <a:pt x="2811328" y="0"/>
                </a:lnTo>
                <a:lnTo>
                  <a:pt x="2811328" y="868261"/>
                </a:lnTo>
                <a:cubicBezTo>
                  <a:pt x="2345739" y="308995"/>
                  <a:pt x="1153804" y="650846"/>
                  <a:pt x="982529" y="683703"/>
                </a:cubicBezTo>
                <a:cubicBezTo>
                  <a:pt x="404388" y="854978"/>
                  <a:pt x="58280" y="883459"/>
                  <a:pt x="5210" y="654342"/>
                </a:cubicBezTo>
                <a:cubicBezTo>
                  <a:pt x="-46523" y="236290"/>
                  <a:pt x="300222" y="78298"/>
                  <a:pt x="4624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alpha val="8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0193345" y="-6625"/>
            <a:ext cx="1998655" cy="3533484"/>
          </a:xfrm>
          <a:custGeom>
            <a:avLst/>
            <a:gdLst>
              <a:gd name="connsiteX0" fmla="*/ 155567 w 1095134"/>
              <a:gd name="connsiteY0" fmla="*/ 0 h 1738370"/>
              <a:gd name="connsiteX1" fmla="*/ 1095134 w 1095134"/>
              <a:gd name="connsiteY1" fmla="*/ 0 h 1738370"/>
              <a:gd name="connsiteX2" fmla="*/ 1095134 w 1095134"/>
              <a:gd name="connsiteY2" fmla="*/ 1342239 h 1738370"/>
              <a:gd name="connsiteX3" fmla="*/ 109427 w 1095134"/>
              <a:gd name="connsiteY3" fmla="*/ 1665214 h 1738370"/>
              <a:gd name="connsiteX4" fmla="*/ 541465 w 1095134"/>
              <a:gd name="connsiteY4" fmla="*/ 503339 h 1738370"/>
              <a:gd name="connsiteX5" fmla="*/ 155567 w 1095134"/>
              <a:gd name="connsiteY5" fmla="*/ 0 h 1738370"/>
            </a:gdLst>
            <a:ahLst/>
            <a:cxnLst/>
            <a:rect l="l" t="t" r="r" b="b"/>
            <a:pathLst>
              <a:path w="1095134" h="1738369">
                <a:moveTo>
                  <a:pt x="155567" y="0"/>
                </a:moveTo>
                <a:lnTo>
                  <a:pt x="1095134" y="0"/>
                </a:lnTo>
                <a:lnTo>
                  <a:pt x="1095134" y="1342239"/>
                </a:lnTo>
                <a:cubicBezTo>
                  <a:pt x="556841" y="1856764"/>
                  <a:pt x="203105" y="1754697"/>
                  <a:pt x="109427" y="1665214"/>
                </a:cubicBezTo>
                <a:cubicBezTo>
                  <a:pt x="-278562" y="1249260"/>
                  <a:pt x="485538" y="824916"/>
                  <a:pt x="541465" y="503339"/>
                </a:cubicBezTo>
                <a:cubicBezTo>
                  <a:pt x="572225" y="257262"/>
                  <a:pt x="363196" y="109756"/>
                  <a:pt x="155567" y="0"/>
                </a:cubicBezTo>
                <a:close/>
              </a:path>
            </a:pathLst>
          </a:custGeom>
          <a:gradFill>
            <a:gsLst>
              <a:gs pos="13000">
                <a:schemeClr val="accent1">
                  <a:alpha val="70000"/>
                </a:schemeClr>
              </a:gs>
              <a:gs pos="56000">
                <a:schemeClr val="accent1">
                  <a:alpha val="4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1120086" y="1610229"/>
            <a:ext cx="1071914" cy="4410721"/>
          </a:xfrm>
          <a:custGeom>
            <a:avLst/>
            <a:gdLst>
              <a:gd name="connsiteX0" fmla="*/ 2562 w 470947"/>
              <a:gd name="connsiteY0" fmla="*/ 541090 h 1937857"/>
              <a:gd name="connsiteX1" fmla="*/ 470947 w 470947"/>
              <a:gd name="connsiteY1" fmla="*/ 0 h 1937857"/>
              <a:gd name="connsiteX2" fmla="*/ 470947 w 470947"/>
              <a:gd name="connsiteY2" fmla="*/ 1937857 h 1937857"/>
              <a:gd name="connsiteX3" fmla="*/ 2562 w 470947"/>
              <a:gd name="connsiteY3" fmla="*/ 541090 h 1937857"/>
              <a:gd name="connsiteX4" fmla="*/ 2562 w 470947"/>
              <a:gd name="connsiteY4" fmla="*/ 541090 h 1937857"/>
            </a:gdLst>
            <a:ahLst/>
            <a:cxnLst/>
            <a:rect l="l" t="t" r="r" b="b"/>
            <a:pathLst>
              <a:path w="470947" h="1937857">
                <a:moveTo>
                  <a:pt x="2562" y="541090"/>
                </a:moveTo>
                <a:cubicBezTo>
                  <a:pt x="-34257" y="142614"/>
                  <a:pt x="335792" y="33555"/>
                  <a:pt x="470947" y="0"/>
                </a:cubicBezTo>
                <a:lnTo>
                  <a:pt x="470947" y="1937857"/>
                </a:lnTo>
                <a:cubicBezTo>
                  <a:pt x="453237" y="1279321"/>
                  <a:pt x="74800" y="985706"/>
                  <a:pt x="2562" y="54109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85000">
                <a:schemeClr val="accent2"/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51176" y="3262121"/>
            <a:ext cx="971224" cy="971224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1000">
                <a:schemeClr val="accent1">
                  <a:alpha val="22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285431" y="201326"/>
            <a:ext cx="596569" cy="596569"/>
          </a:xfrm>
          <a:prstGeom prst="ellipse">
            <a:avLst/>
          </a:prstGeom>
          <a:gradFill>
            <a:gsLst>
              <a:gs pos="0">
                <a:schemeClr val="accent2"/>
              </a:gs>
              <a:gs pos="81000">
                <a:schemeClr val="accent1">
                  <a:alpha val="47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172120" y="5862182"/>
            <a:ext cx="386558" cy="386558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  <a:alpha val="13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1369984" y="4043547"/>
            <a:ext cx="596569" cy="59656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  <a:alpha val="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0029423" y="1084105"/>
            <a:ext cx="307272" cy="307272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40000"/>
                  <a:lumOff val="60000"/>
                  <a:alpha val="13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3641506" y="4769414"/>
            <a:ext cx="2143968" cy="36919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72000">
                <a:schemeClr val="accent1">
                  <a:lumMod val="20000"/>
                  <a:lumOff val="80000"/>
                  <a:alpha val="54000"/>
                </a:schemeClr>
              </a:gs>
            </a:gsLst>
            <a:lin ang="189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3608772" y="4744268"/>
            <a:ext cx="419492" cy="419490"/>
          </a:xfrm>
          <a:prstGeom prst="roundRect">
            <a:avLst>
              <a:gd name="adj" fmla="val 11123"/>
            </a:avLst>
          </a:prstGeom>
          <a:gradFill>
            <a:gsLst>
              <a:gs pos="0">
                <a:schemeClr val="accent1"/>
              </a:gs>
              <a:gs pos="76000">
                <a:schemeClr val="accent2"/>
              </a:gs>
            </a:gsLst>
            <a:lin ang="2700000" scaled="0"/>
          </a:gradFill>
          <a:ln w="12700" cap="sq">
            <a:noFill/>
            <a:miter/>
          </a:ln>
          <a:effectLst>
            <a:outerShdw blurRad="228600" dist="12700" dir="5400000" algn="t" rotWithShape="0">
              <a:schemeClr val="accent1">
                <a:lumMod val="7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709780" y="4836227"/>
            <a:ext cx="217475" cy="235572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439261" y="4769414"/>
            <a:ext cx="2143968" cy="369198"/>
          </a:xfrm>
          <a:prstGeom prst="roundRect">
            <a:avLst/>
          </a:prstGeom>
          <a:gradFill>
            <a:gsLst>
              <a:gs pos="0">
                <a:schemeClr val="accent4">
                  <a:lumMod val="60000"/>
                  <a:lumOff val="40000"/>
                  <a:alpha val="40000"/>
                </a:schemeClr>
              </a:gs>
              <a:gs pos="72000">
                <a:schemeClr val="accent4">
                  <a:lumMod val="20000"/>
                  <a:lumOff val="80000"/>
                  <a:alpha val="54000"/>
                </a:schemeClr>
              </a:gs>
            </a:gsLst>
            <a:lin ang="18900000" scaled="0"/>
          </a:gradFill>
          <a:ln w="12700" cap="sq">
            <a:solidFill>
              <a:schemeClr val="accent4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406526" y="4744268"/>
            <a:ext cx="419492" cy="419490"/>
          </a:xfrm>
          <a:prstGeom prst="roundRect">
            <a:avLst>
              <a:gd name="adj" fmla="val 11123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76000">
                <a:schemeClr val="accent4"/>
              </a:gs>
            </a:gsLst>
            <a:lin ang="2700000" scaled="0"/>
          </a:gradFill>
          <a:ln w="12700" cap="sq">
            <a:noFill/>
            <a:miter/>
          </a:ln>
          <a:effectLst>
            <a:outerShdw blurRad="228600" dist="12700" dir="5400000" algn="t" rotWithShape="0">
              <a:schemeClr val="accent4">
                <a:lumMod val="7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6507534" y="4836226"/>
            <a:ext cx="217475" cy="235574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4963289" y="1470589"/>
            <a:ext cx="2254017" cy="794277"/>
          </a:xfrm>
          <a:custGeom>
            <a:avLst/>
            <a:gdLst>
              <a:gd name="connsiteX0" fmla="*/ 93143 w 2140962"/>
              <a:gd name="connsiteY0" fmla="*/ 0 h 958499"/>
              <a:gd name="connsiteX1" fmla="*/ 2047819 w 2140962"/>
              <a:gd name="connsiteY1" fmla="*/ 0 h 958499"/>
              <a:gd name="connsiteX2" fmla="*/ 2140962 w 2140962"/>
              <a:gd name="connsiteY2" fmla="*/ 93143 h 958499"/>
              <a:gd name="connsiteX3" fmla="*/ 2140962 w 2140962"/>
              <a:gd name="connsiteY3" fmla="*/ 722687 h 958499"/>
              <a:gd name="connsiteX4" fmla="*/ 2047819 w 2140962"/>
              <a:gd name="connsiteY4" fmla="*/ 815830 h 958499"/>
              <a:gd name="connsiteX5" fmla="*/ 1972279 w 2140962"/>
              <a:gd name="connsiteY5" fmla="*/ 815830 h 958499"/>
              <a:gd name="connsiteX6" fmla="*/ 1822852 w 2140962"/>
              <a:gd name="connsiteY6" fmla="*/ 958499 h 958499"/>
              <a:gd name="connsiteX7" fmla="*/ 1822852 w 2140962"/>
              <a:gd name="connsiteY7" fmla="*/ 815830 h 958499"/>
              <a:gd name="connsiteX8" fmla="*/ 93143 w 2140962"/>
              <a:gd name="connsiteY8" fmla="*/ 815830 h 958499"/>
              <a:gd name="connsiteX9" fmla="*/ 0 w 2140962"/>
              <a:gd name="connsiteY9" fmla="*/ 722687 h 958499"/>
              <a:gd name="connsiteX10" fmla="*/ 0 w 2140962"/>
              <a:gd name="connsiteY10" fmla="*/ 93143 h 958499"/>
              <a:gd name="connsiteX11" fmla="*/ 93143 w 2140962"/>
              <a:gd name="connsiteY11" fmla="*/ 0 h 958499"/>
            </a:gdLst>
            <a:ahLst/>
            <a:cxnLst/>
            <a:rect l="l" t="t" r="r" b="b"/>
            <a:pathLst>
              <a:path w="2140962" h="958499">
                <a:moveTo>
                  <a:pt x="93143" y="0"/>
                </a:moveTo>
                <a:lnTo>
                  <a:pt x="2047819" y="0"/>
                </a:lnTo>
                <a:cubicBezTo>
                  <a:pt x="2099260" y="0"/>
                  <a:pt x="2140962" y="41702"/>
                  <a:pt x="2140962" y="93143"/>
                </a:cubicBezTo>
                <a:lnTo>
                  <a:pt x="2140962" y="722687"/>
                </a:lnTo>
                <a:cubicBezTo>
                  <a:pt x="2140962" y="774128"/>
                  <a:pt x="2099260" y="815830"/>
                  <a:pt x="2047819" y="815830"/>
                </a:cubicBezTo>
                <a:lnTo>
                  <a:pt x="1972279" y="815830"/>
                </a:lnTo>
                <a:lnTo>
                  <a:pt x="1822852" y="958499"/>
                </a:lnTo>
                <a:lnTo>
                  <a:pt x="1822852" y="815830"/>
                </a:lnTo>
                <a:lnTo>
                  <a:pt x="93143" y="815830"/>
                </a:lnTo>
                <a:cubicBezTo>
                  <a:pt x="41702" y="815830"/>
                  <a:pt x="0" y="774128"/>
                  <a:pt x="0" y="722687"/>
                </a:cubicBezTo>
                <a:lnTo>
                  <a:pt x="0" y="93143"/>
                </a:lnTo>
                <a:cubicBezTo>
                  <a:pt x="0" y="41702"/>
                  <a:pt x="41702" y="0"/>
                  <a:pt x="9314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72000">
                <a:schemeClr val="accent1">
                  <a:lumMod val="20000"/>
                  <a:lumOff val="80000"/>
                  <a:alpha val="54000"/>
                </a:schemeClr>
              </a:gs>
            </a:gsLst>
            <a:lin ang="189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4863157" y="1385351"/>
            <a:ext cx="2254017" cy="794277"/>
          </a:xfrm>
          <a:custGeom>
            <a:avLst/>
            <a:gdLst>
              <a:gd name="connsiteX0" fmla="*/ 93143 w 2140962"/>
              <a:gd name="connsiteY0" fmla="*/ 0 h 958499"/>
              <a:gd name="connsiteX1" fmla="*/ 2047819 w 2140962"/>
              <a:gd name="connsiteY1" fmla="*/ 0 h 958499"/>
              <a:gd name="connsiteX2" fmla="*/ 2140962 w 2140962"/>
              <a:gd name="connsiteY2" fmla="*/ 93143 h 958499"/>
              <a:gd name="connsiteX3" fmla="*/ 2140962 w 2140962"/>
              <a:gd name="connsiteY3" fmla="*/ 722687 h 958499"/>
              <a:gd name="connsiteX4" fmla="*/ 2047819 w 2140962"/>
              <a:gd name="connsiteY4" fmla="*/ 815830 h 958499"/>
              <a:gd name="connsiteX5" fmla="*/ 1972279 w 2140962"/>
              <a:gd name="connsiteY5" fmla="*/ 815830 h 958499"/>
              <a:gd name="connsiteX6" fmla="*/ 1822852 w 2140962"/>
              <a:gd name="connsiteY6" fmla="*/ 958499 h 958499"/>
              <a:gd name="connsiteX7" fmla="*/ 1822852 w 2140962"/>
              <a:gd name="connsiteY7" fmla="*/ 815830 h 958499"/>
              <a:gd name="connsiteX8" fmla="*/ 93143 w 2140962"/>
              <a:gd name="connsiteY8" fmla="*/ 815830 h 958499"/>
              <a:gd name="connsiteX9" fmla="*/ 0 w 2140962"/>
              <a:gd name="connsiteY9" fmla="*/ 722687 h 958499"/>
              <a:gd name="connsiteX10" fmla="*/ 0 w 2140962"/>
              <a:gd name="connsiteY10" fmla="*/ 93143 h 958499"/>
              <a:gd name="connsiteX11" fmla="*/ 93143 w 2140962"/>
              <a:gd name="connsiteY11" fmla="*/ 0 h 958499"/>
            </a:gdLst>
            <a:ahLst/>
            <a:cxnLst/>
            <a:rect l="l" t="t" r="r" b="b"/>
            <a:pathLst>
              <a:path w="2140962" h="958499">
                <a:moveTo>
                  <a:pt x="93143" y="0"/>
                </a:moveTo>
                <a:lnTo>
                  <a:pt x="2047819" y="0"/>
                </a:lnTo>
                <a:cubicBezTo>
                  <a:pt x="2099260" y="0"/>
                  <a:pt x="2140962" y="41702"/>
                  <a:pt x="2140962" y="93143"/>
                </a:cubicBezTo>
                <a:lnTo>
                  <a:pt x="2140962" y="722687"/>
                </a:lnTo>
                <a:cubicBezTo>
                  <a:pt x="2140962" y="774128"/>
                  <a:pt x="2099260" y="815830"/>
                  <a:pt x="2047819" y="815830"/>
                </a:cubicBezTo>
                <a:lnTo>
                  <a:pt x="1972279" y="815830"/>
                </a:lnTo>
                <a:lnTo>
                  <a:pt x="1822852" y="958499"/>
                </a:lnTo>
                <a:lnTo>
                  <a:pt x="1822852" y="815830"/>
                </a:lnTo>
                <a:lnTo>
                  <a:pt x="93143" y="815830"/>
                </a:lnTo>
                <a:cubicBezTo>
                  <a:pt x="41702" y="815830"/>
                  <a:pt x="0" y="774128"/>
                  <a:pt x="0" y="722687"/>
                </a:cubicBezTo>
                <a:lnTo>
                  <a:pt x="0" y="93143"/>
                </a:lnTo>
                <a:cubicBezTo>
                  <a:pt x="0" y="41702"/>
                  <a:pt x="41702" y="0"/>
                  <a:pt x="9314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9000">
                <a:schemeClr val="accent1"/>
              </a:gs>
            </a:gsLst>
            <a:lin ang="2700000" scaled="0"/>
          </a:gradFill>
          <a:ln w="12700" cap="sq">
            <a:noFill/>
            <a:miter/>
          </a:ln>
          <a:effectLst>
            <a:outerShdw blurRad="228600" dist="12700" dir="5400000" algn="t" rotWithShape="0">
              <a:schemeClr val="accent1">
                <a:lumMod val="7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10728224" y="6279365"/>
            <a:ext cx="1008113" cy="338628"/>
          </a:xfrm>
          <a:custGeom>
            <a:avLst/>
            <a:gdLst>
              <a:gd name="connsiteX0" fmla="*/ 415276 w 3541187"/>
              <a:gd name="connsiteY0" fmla="*/ 0 h 415276"/>
              <a:gd name="connsiteX1" fmla="*/ 0 w 3541187"/>
              <a:gd name="connsiteY1" fmla="*/ 0 h 415276"/>
              <a:gd name="connsiteX2" fmla="*/ 0 w 3541187"/>
              <a:gd name="connsiteY2" fmla="*/ 415276 h 415276"/>
              <a:gd name="connsiteX3" fmla="*/ 415276 w 3541187"/>
              <a:gd name="connsiteY3" fmla="*/ 415276 h 415276"/>
              <a:gd name="connsiteX4" fmla="*/ 1184675 w 3541187"/>
              <a:gd name="connsiteY4" fmla="*/ 0 h 415276"/>
              <a:gd name="connsiteX5" fmla="*/ 769399 w 3541187"/>
              <a:gd name="connsiteY5" fmla="*/ 0 h 415276"/>
              <a:gd name="connsiteX6" fmla="*/ 769399 w 3541187"/>
              <a:gd name="connsiteY6" fmla="*/ 415276 h 415276"/>
              <a:gd name="connsiteX7" fmla="*/ 1184675 w 3541187"/>
              <a:gd name="connsiteY7" fmla="*/ 415276 h 415276"/>
              <a:gd name="connsiteX8" fmla="*/ 1954074 w 3541187"/>
              <a:gd name="connsiteY8" fmla="*/ 0 h 415276"/>
              <a:gd name="connsiteX9" fmla="*/ 1538798 w 3541187"/>
              <a:gd name="connsiteY9" fmla="*/ 0 h 415276"/>
              <a:gd name="connsiteX10" fmla="*/ 1538798 w 3541187"/>
              <a:gd name="connsiteY10" fmla="*/ 415276 h 415276"/>
              <a:gd name="connsiteX11" fmla="*/ 1954074 w 3541187"/>
              <a:gd name="connsiteY11" fmla="*/ 415276 h 415276"/>
              <a:gd name="connsiteX12" fmla="*/ 2771788 w 3541187"/>
              <a:gd name="connsiteY12" fmla="*/ 0 h 415276"/>
              <a:gd name="connsiteX13" fmla="*/ 2356512 w 3541187"/>
              <a:gd name="connsiteY13" fmla="*/ 0 h 415276"/>
              <a:gd name="connsiteX14" fmla="*/ 2356512 w 3541187"/>
              <a:gd name="connsiteY14" fmla="*/ 415276 h 415276"/>
              <a:gd name="connsiteX15" fmla="*/ 2771788 w 3541187"/>
              <a:gd name="connsiteY15" fmla="*/ 415276 h 415276"/>
              <a:gd name="connsiteX16" fmla="*/ 3541187 w 3541187"/>
              <a:gd name="connsiteY16" fmla="*/ 0 h 415276"/>
              <a:gd name="connsiteX17" fmla="*/ 3125911 w 3541187"/>
              <a:gd name="connsiteY17" fmla="*/ 0 h 415276"/>
              <a:gd name="connsiteX18" fmla="*/ 3125911 w 3541187"/>
              <a:gd name="connsiteY18" fmla="*/ 415276 h 415276"/>
              <a:gd name="connsiteX19" fmla="*/ 3541187 w 3541187"/>
              <a:gd name="connsiteY19" fmla="*/ 415276 h 415276"/>
            </a:gdLst>
            <a:ahLst/>
            <a:cxnLst/>
            <a:rect l="l" t="t" r="r" b="b"/>
            <a:pathLst>
              <a:path w="3541187" h="415276">
                <a:moveTo>
                  <a:pt x="415276" y="0"/>
                </a:moveTo>
                <a:lnTo>
                  <a:pt x="0" y="0"/>
                </a:lnTo>
                <a:lnTo>
                  <a:pt x="0" y="415276"/>
                </a:lnTo>
                <a:lnTo>
                  <a:pt x="415276" y="415276"/>
                </a:lnTo>
                <a:close/>
                <a:moveTo>
                  <a:pt x="1184675" y="0"/>
                </a:moveTo>
                <a:lnTo>
                  <a:pt x="769399" y="0"/>
                </a:lnTo>
                <a:lnTo>
                  <a:pt x="769399" y="415276"/>
                </a:lnTo>
                <a:lnTo>
                  <a:pt x="1184675" y="415276"/>
                </a:lnTo>
                <a:close/>
                <a:moveTo>
                  <a:pt x="1954074" y="0"/>
                </a:moveTo>
                <a:lnTo>
                  <a:pt x="1538798" y="0"/>
                </a:lnTo>
                <a:lnTo>
                  <a:pt x="1538798" y="415276"/>
                </a:lnTo>
                <a:lnTo>
                  <a:pt x="1954074" y="415276"/>
                </a:lnTo>
                <a:close/>
                <a:moveTo>
                  <a:pt x="2771788" y="0"/>
                </a:moveTo>
                <a:lnTo>
                  <a:pt x="2356512" y="0"/>
                </a:lnTo>
                <a:lnTo>
                  <a:pt x="2356512" y="415276"/>
                </a:lnTo>
                <a:lnTo>
                  <a:pt x="2771788" y="415276"/>
                </a:lnTo>
                <a:close/>
                <a:moveTo>
                  <a:pt x="3541187" y="0"/>
                </a:moveTo>
                <a:lnTo>
                  <a:pt x="3125911" y="0"/>
                </a:lnTo>
                <a:lnTo>
                  <a:pt x="3125911" y="415276"/>
                </a:lnTo>
                <a:lnTo>
                  <a:pt x="3541187" y="41527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26" name="标题 1"/>
          <p:cNvCxnSpPr/>
          <p:nvPr/>
        </p:nvCxnSpPr>
        <p:spPr>
          <a:xfrm flipH="1" flipV="1">
            <a:off x="6297525" y="6445403"/>
            <a:ext cx="4104189" cy="6553"/>
          </a:xfrm>
          <a:prstGeom prst="line">
            <a:avLst/>
          </a:prstGeom>
          <a:noFill/>
          <a:ln w="19050" cap="sq">
            <a:solidFill>
              <a:schemeClr val="accent1">
                <a:lumMod val="60000"/>
                <a:lumOff val="40000"/>
              </a:schemeClr>
            </a:solidFill>
            <a:prstDash val="solid"/>
            <a:miter/>
            <a:headEnd type="oval" w="lg" len="lg"/>
            <a:tailEnd type="oval" w="lg" len="lg"/>
          </a:ln>
        </p:spPr>
      </p:cxnSp>
      <p:sp>
        <p:nvSpPr>
          <p:cNvPr id="27" name="标题 1"/>
          <p:cNvSpPr txBox="1"/>
          <p:nvPr/>
        </p:nvSpPr>
        <p:spPr>
          <a:xfrm flipV="1">
            <a:off x="3072680" y="589809"/>
            <a:ext cx="3636286" cy="53470"/>
          </a:xfrm>
          <a:custGeom>
            <a:avLst/>
            <a:gdLst>
              <a:gd name="connsiteX0" fmla="*/ 0 w 3636286"/>
              <a:gd name="connsiteY0" fmla="*/ 94727 h 94727"/>
              <a:gd name="connsiteX1" fmla="*/ 3419713 w 3636286"/>
              <a:gd name="connsiteY1" fmla="*/ 94727 h 94727"/>
              <a:gd name="connsiteX2" fmla="*/ 3528000 w 3636286"/>
              <a:gd name="connsiteY2" fmla="*/ 94727 h 94727"/>
              <a:gd name="connsiteX3" fmla="*/ 3636286 w 3636286"/>
              <a:gd name="connsiteY3" fmla="*/ 94727 h 94727"/>
              <a:gd name="connsiteX4" fmla="*/ 3419713 w 3636286"/>
              <a:gd name="connsiteY4" fmla="*/ 0 h 94727"/>
              <a:gd name="connsiteX5" fmla="*/ 3419713 w 3636286"/>
              <a:gd name="connsiteY5" fmla="*/ 58727 h 94727"/>
              <a:gd name="connsiteX6" fmla="*/ 0 w 3636286"/>
              <a:gd name="connsiteY6" fmla="*/ 58727 h 94727"/>
            </a:gdLst>
            <a:ahLst/>
            <a:cxnLst/>
            <a:rect l="l" t="t" r="r" b="b"/>
            <a:pathLst>
              <a:path w="3636286" h="94727">
                <a:moveTo>
                  <a:pt x="0" y="94727"/>
                </a:moveTo>
                <a:lnTo>
                  <a:pt x="3419713" y="94727"/>
                </a:lnTo>
                <a:lnTo>
                  <a:pt x="3528000" y="94727"/>
                </a:lnTo>
                <a:lnTo>
                  <a:pt x="3636286" y="94727"/>
                </a:lnTo>
                <a:lnTo>
                  <a:pt x="3419713" y="0"/>
                </a:lnTo>
                <a:lnTo>
                  <a:pt x="3419713" y="58727"/>
                </a:lnTo>
                <a:lnTo>
                  <a:pt x="0" y="5872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5014735" y="4849655"/>
            <a:ext cx="781452" cy="2807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/>
              <a:t>cyk</a:t>
            </a:r>
            <a:endParaRPr kumimoji="1" lang="en-US" altLang="zh-CN"/>
          </a:p>
        </p:txBody>
      </p:sp>
      <p:sp>
        <p:nvSpPr>
          <p:cNvPr id="29" name="标题 1"/>
          <p:cNvSpPr txBox="1"/>
          <p:nvPr/>
        </p:nvSpPr>
        <p:spPr>
          <a:xfrm>
            <a:off x="7722465" y="4846375"/>
            <a:ext cx="932662" cy="26191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5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2025.4</a:t>
            </a: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4241949" y="4849655"/>
            <a:ext cx="917463" cy="2807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5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主讲人：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7143378" y="4846375"/>
            <a:ext cx="652620" cy="26191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5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5*292"/>
  <p:tag name="TABLE_ENDDRAG_RECT" val="67*126*825*292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C6BFF"/>
      </a:accent1>
      <a:accent2>
        <a:srgbClr val="0165FF"/>
      </a:accent2>
      <a:accent3>
        <a:srgbClr val="0313E1"/>
      </a:accent3>
      <a:accent4>
        <a:srgbClr val="BF9000"/>
      </a:accent4>
      <a:accent5>
        <a:srgbClr val="2E75B5"/>
      </a:accent5>
      <a:accent6>
        <a:srgbClr val="538135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1468</Words>
  <Application>WPS 演示</Application>
  <PresentationFormat/>
  <Paragraphs>233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宋体</vt:lpstr>
      <vt:lpstr>Wingdings</vt:lpstr>
      <vt:lpstr>等线</vt:lpstr>
      <vt:lpstr>Source Han Sans</vt:lpstr>
      <vt:lpstr>HelloFont WenYiHei</vt:lpstr>
      <vt:lpstr>OPPOSans B</vt:lpstr>
      <vt:lpstr>Source Han Sans CN Bold</vt:lpstr>
      <vt:lpstr>Calibri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我</cp:lastModifiedBy>
  <cp:revision>1</cp:revision>
  <dcterms:created xsi:type="dcterms:W3CDTF">2025-05-06T17:47:04Z</dcterms:created>
  <dcterms:modified xsi:type="dcterms:W3CDTF">2025-05-06T17:47:10Z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01721D9736877DBBE1E8066856C78E12_32</vt:lpwstr>
  </property>
  <property fmtid="{D5CDD505-2E9C-101B-9397-08002B2CF9AE}" pid="3" name="KSOProductBuildVer">
    <vt:lpwstr>2052-12.1.0.20784</vt:lpwstr>
  </property>
</Properties>
</file>